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r>
              <a:rPr sz="1300">
                <a:solidFill>
                  <a:srgbClr val="F1F5F9"/>
                </a:solidFill>
              </a:rPr>
              <a:t>Spoof vs Bona Fide Distribution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Samples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Spoof</c:v>
                </c:pt>
                <c:pt idx="1">
                  <c:v>Bona fide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1573308</c:v>
                </c:pt>
                <c:pt idx="1">
                  <c:v>320611</c:v>
                </c:pt>
              </c:numCache>
            </c:numRef>
          </c:val>
        </c:ser>
        <c:dLbls>
          <c:dLblPos val="bestFit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</c:plotArea>
    <c:legend>
      <c:legendPos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>
                <a:solidFill>
                  <a:srgbClr val="F1F5F9"/>
                </a:solidFill>
              </a:rPr>
              <a:t>Spoof Type Counts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Samples (k)</c:v>
                </c:pt>
              </c:strCache>
            </c:strRef>
          </c:tx>
          <c:dLbls>
            <c:numFmt formatCode="0.0" sourceLinked="0"/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Replay</c:v>
                </c:pt>
                <c:pt idx="1">
                  <c:v>Conversion</c:v>
                </c:pt>
                <c:pt idx="2">
                  <c:v>Synthesis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816.48</c:v>
                </c:pt>
                <c:pt idx="1">
                  <c:v>589.212</c:v>
                </c:pt>
                <c:pt idx="2">
                  <c:v>167.616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t>Thousands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>
                <a:solidFill>
                  <a:srgbClr val="F1F5F9"/>
                </a:solidFill>
              </a:rPr>
              <a:t>EER Comparison (lower is better)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EER %</c:v>
                </c:pt>
              </c:strCache>
            </c:strRef>
          </c:tx>
          <c:dLbls>
            <c:numFmt formatCode="0.0" sourceLinked="0"/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CNN clean</c:v>
                </c:pt>
                <c:pt idx="1">
                  <c:v>CNN aug</c:v>
                </c:pt>
                <c:pt idx="2">
                  <c:v>ResNet clean</c:v>
                </c:pt>
                <c:pt idx="3">
                  <c:v>ResNet aug</c:v>
                </c:pt>
                <c:pt idx="4">
                  <c:v>Hybrid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9.68</c:v>
                </c:pt>
                <c:pt idx="1">
                  <c:v>15.71</c:v>
                </c:pt>
                <c:pt idx="2">
                  <c:v>0.57</c:v>
                </c:pt>
                <c:pt idx="3">
                  <c:v>2.61</c:v>
                </c:pt>
                <c:pt idx="4">
                  <c:v>16.21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t>%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>
                <a:solidFill>
                  <a:srgbClr val="F1F5F9"/>
                </a:solidFill>
              </a:rPr>
              <a:t>Clean Human Test Result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dLbls>
            <c:numFmt formatCode="0.0" sourceLinked="0"/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False flagged</c:v>
                </c:pt>
                <c:pt idx="1">
                  <c:v>Not flagged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22</c:v>
                </c:pt>
                <c:pt idx="1">
                  <c:v>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t>Recordings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>
                <a:solidFill>
                  <a:srgbClr val="F1F5F9"/>
                </a:solidFill>
              </a:rPr>
              <a:t>Final Release Matrix Metrics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dLbls>
            <c:numFmt formatCode="0.0" sourceLinked="0"/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Origin</c:v>
                </c:pt>
                <c:pt idx="1">
                  <c:v>Replay</c:v>
                </c:pt>
                <c:pt idx="2">
                  <c:v>Mixer/channel</c:v>
                </c:pt>
                <c:pt idx="3">
                  <c:v>Partial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83.33</c:v>
                </c:pt>
                <c:pt idx="1">
                  <c:v>80.0</c:v>
                </c:pt>
                <c:pt idx="2">
                  <c:v>88.0</c:v>
                </c:pt>
                <c:pt idx="3">
                  <c:v>100.0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Balanced accuracy</c:v>
                </c:pt>
              </c:strCache>
            </c:strRef>
          </c:tx>
          <c:dLbls>
            <c:numFmt formatCode="0.0" sourceLinked="0"/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Origin</c:v>
                </c:pt>
                <c:pt idx="1">
                  <c:v>Replay</c:v>
                </c:pt>
                <c:pt idx="2">
                  <c:v>Mixer/channel</c:v>
                </c:pt>
                <c:pt idx="3">
                  <c:v>Partial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82.5</c:v>
                </c:pt>
                <c:pt idx="1">
                  <c:v>77.38</c:v>
                </c:pt>
                <c:pt idx="2">
                  <c:v>47.83</c:v>
                </c:pt>
                <c:pt idx="3">
                  <c:v>100.0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Recall</c:v>
                </c:pt>
              </c:strCache>
            </c:strRef>
          </c:tx>
          <c:dLbls>
            <c:numFmt formatCode="0.0" sourceLinked="0"/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Origin</c:v>
                </c:pt>
                <c:pt idx="1">
                  <c:v>Replay</c:v>
                </c:pt>
                <c:pt idx="2">
                  <c:v>Mixer/channel</c:v>
                </c:pt>
                <c:pt idx="3">
                  <c:v>Partial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90.0</c:v>
                </c:pt>
                <c:pt idx="1">
                  <c:v>71.43</c:v>
                </c:pt>
                <c:pt idx="2">
                  <c:v>0.0</c:v>
                </c:pt>
                <c:pt idx="3">
                  <c:v>100.0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t>%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>
                <a:solidFill>
                  <a:srgbClr val="F1F5F9"/>
                </a:solidFill>
              </a:rPr>
              <a:t>FASSD Evidence Estimates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Estimate %</c:v>
                </c:pt>
              </c:strCache>
            </c:strRef>
          </c:tx>
          <c:dLbls>
            <c:numFmt formatCode="0.0" sourceLinked="0"/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Origin</c:v>
                </c:pt>
                <c:pt idx="1">
                  <c:v>Replay</c:v>
                </c:pt>
                <c:pt idx="2">
                  <c:v>Channel</c:v>
                </c:pt>
                <c:pt idx="3">
                  <c:v>Partial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88.7</c:v>
                </c:pt>
                <c:pt idx="1">
                  <c:v>96.0</c:v>
                </c:pt>
                <c:pt idx="2">
                  <c:v>96.0</c:v>
                </c:pt>
                <c:pt idx="3">
                  <c:v>96.0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t>%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>
                <a:solidFill>
                  <a:srgbClr val="F1F5F9"/>
                </a:solidFill>
              </a:rPr>
              <a:t>FASSD Evidence Estimates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Estimate %</c:v>
                </c:pt>
              </c:strCache>
            </c:strRef>
          </c:tx>
          <c:dLbls>
            <c:numFmt formatCode="0.0" sourceLinked="0"/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Origin</c:v>
                </c:pt>
                <c:pt idx="1">
                  <c:v>Replay</c:v>
                </c:pt>
                <c:pt idx="2">
                  <c:v>Channel</c:v>
                </c:pt>
                <c:pt idx="3">
                  <c:v>Partial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96.0</c:v>
                </c:pt>
                <c:pt idx="1">
                  <c:v>0.0</c:v>
                </c:pt>
                <c:pt idx="2">
                  <c:v>0.0</c:v>
                </c:pt>
                <c:pt idx="3">
                  <c:v>96.0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t>%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Good morning respected panel. Our project is FASSD, an experimental forensic audio decision-support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started with binary deepfake detection. Testing showed real-world audio requires evidence separation.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-365760"/>
            <a:ext cx="2560320" cy="256032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5029200"/>
            <a:ext cx="2560320" cy="256032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201168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100" b="1">
                <a:solidFill>
                  <a:srgbClr val="22D3EE"/>
                </a:solidFill>
                <a:latin typeface="Aptos"/>
              </a:rPr>
              <a:t>FINAL YEAR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97280"/>
            <a:ext cx="8046720" cy="9144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5800" b="1">
                <a:solidFill>
                  <a:srgbClr val="F1F5F9"/>
                </a:solidFill>
                <a:latin typeface="Aptos"/>
              </a:rPr>
              <a:t>FASSD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011680"/>
            <a:ext cx="8961120" cy="5486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2400" b="1">
                <a:solidFill>
                  <a:srgbClr val="22D3EE"/>
                </a:solidFill>
                <a:latin typeface="Aptos"/>
              </a:rPr>
              <a:t>Forensic Audio Source and Spoofing Detector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743200"/>
            <a:ext cx="7498079" cy="5486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700" b="0">
                <a:solidFill>
                  <a:srgbClr val="94A3B8"/>
                </a:solidFill>
                <a:latin typeface="Aptos"/>
              </a:rPr>
              <a:t>Multi-axis forensic audio evidence reporting for AI-origin, replay, channel, and partial fabrication review.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977639"/>
            <a:ext cx="2880360" cy="868680"/>
          </a:xfrm>
          <a:prstGeom prst="roundRect">
            <a:avLst/>
          </a:prstGeom>
          <a:solidFill>
            <a:srgbClr val="0F172A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4123943"/>
            <a:ext cx="2478024" cy="2743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Aptos"/>
              </a:rPr>
              <a:t>TEAM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4453127"/>
            <a:ext cx="2478024" cy="2743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Aptos"/>
              </a:rPr>
              <a:t>Rana M. Areeb
M. Hasnain Siddique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49039" y="3977639"/>
            <a:ext cx="2468880" cy="868680"/>
          </a:xfrm>
          <a:prstGeom prst="roundRect">
            <a:avLst/>
          </a:prstGeom>
          <a:solidFill>
            <a:srgbClr val="0F172A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50207" y="4123943"/>
            <a:ext cx="2066544" cy="2743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34D399"/>
                </a:solidFill>
                <a:latin typeface="Aptos"/>
              </a:rPr>
              <a:t>SUPERVISOR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50207" y="4453127"/>
            <a:ext cx="2066544" cy="2743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F1F5F9"/>
                </a:solidFill>
                <a:latin typeface="Aptos"/>
              </a:rPr>
              <a:t>Sir Faran Mehmood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3977639"/>
            <a:ext cx="4389120" cy="868680"/>
          </a:xfrm>
          <a:prstGeom prst="roundRect">
            <a:avLst/>
          </a:prstGeom>
          <a:solidFill>
            <a:srgbClr val="0F172A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1968" y="4123943"/>
            <a:ext cx="3986784" cy="2743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FBBF24"/>
                </a:solidFill>
                <a:latin typeface="Aptos"/>
              </a:rPr>
              <a:t>LIVE SYSTEM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01968" y="4453127"/>
            <a:ext cx="3986784" cy="2743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Aptos"/>
              </a:rPr>
              <a:t>https://www.deepfakedetection.dev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473952"/>
            <a:ext cx="5486400" cy="1828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ptos"/>
              </a:rPr>
              <a:t>Forensic Audio Source and Spoofing Detector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73952"/>
            <a:ext cx="548640" cy="1828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r"/>
            <a:r>
              <a:rPr sz="800" b="1">
                <a:solidFill>
                  <a:srgbClr val="22D3EE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-365760"/>
            <a:ext cx="2560320" cy="256032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5029200"/>
            <a:ext cx="2560320" cy="256032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713232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Aptos"/>
              </a:rPr>
              <a:t>FASSD FINAL YEAR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9601200" cy="65836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2800" b="1">
                <a:solidFill>
                  <a:srgbClr val="F1F5F9"/>
                </a:solidFill>
                <a:latin typeface="Aptos"/>
              </a:rPr>
              <a:t>Opening Story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243584"/>
            <a:ext cx="8778240" cy="4114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Aptos"/>
              </a:rPr>
              <a:t>Why the project changed from a detector into a forensic evidence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73952"/>
            <a:ext cx="5486400" cy="1828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ptos"/>
              </a:rPr>
              <a:t>Forensic Audio Source and Spoofing Detector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73952"/>
            <a:ext cx="548640" cy="1828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r"/>
            <a:r>
              <a:rPr sz="800" b="1">
                <a:solidFill>
                  <a:srgbClr val="22D3EE"/>
                </a:solidFill>
                <a:latin typeface="Aptos"/>
              </a:rPr>
              <a:t>02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828800"/>
            <a:ext cx="4389120" cy="1143000"/>
          </a:xfrm>
          <a:prstGeom prst="roundRect">
            <a:avLst/>
          </a:prstGeom>
          <a:solidFill>
            <a:srgbClr val="0F172A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975104"/>
            <a:ext cx="3986784" cy="2743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Aptos"/>
              </a:rPr>
              <a:t>STARTED 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304288"/>
            <a:ext cx="3986784" cy="5486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2200" b="1">
                <a:solidFill>
                  <a:srgbClr val="F1F5F9"/>
                </a:solidFill>
                <a:latin typeface="Aptos"/>
              </a:rPr>
              <a:t>Detect AI-generated speech using ML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49440" y="1828800"/>
            <a:ext cx="4389120" cy="1143000"/>
          </a:xfrm>
          <a:prstGeom prst="roundRect">
            <a:avLst/>
          </a:prstGeom>
          <a:solidFill>
            <a:srgbClr val="0F172A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50608" y="1975104"/>
            <a:ext cx="3986784" cy="2743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34D399"/>
                </a:solidFill>
                <a:latin typeface="Aptos"/>
              </a:rPr>
              <a:t>BECAME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50608" y="2304288"/>
            <a:ext cx="3986784" cy="5486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2200" b="1">
                <a:solidFill>
                  <a:srgbClr val="F1F5F9"/>
                </a:solidFill>
                <a:latin typeface="Aptos"/>
              </a:rPr>
              <a:t>Explain what evidence exists in audio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0680" y="2212848"/>
            <a:ext cx="1097280" cy="4572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3400" b="1">
                <a:solidFill>
                  <a:srgbClr val="FBBF24"/>
                </a:solidFill>
                <a:latin typeface="Aptos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657600"/>
            <a:ext cx="98755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48"/>
              </a:spcAft>
              <a:defRPr sz="1800">
                <a:solidFill>
                  <a:srgbClr val="F1F5F9"/>
                </a:solidFill>
                <a:latin typeface="Aptos"/>
              </a:defRPr>
            </a:pPr>
            <a:r>
              <a:t>Real audio may be compressed, replayed, mixed, edited, or re-uploaded.</a:t>
            </a:r>
          </a:p>
          <a:p>
            <a:pPr>
              <a:spcAft>
                <a:spcPts val="648"/>
              </a:spcAft>
              <a:defRPr sz="1800">
                <a:solidFill>
                  <a:srgbClr val="F1F5F9"/>
                </a:solidFill>
                <a:latin typeface="Aptos"/>
              </a:defRPr>
            </a:pPr>
            <a:r>
              <a:t>A single fake/real score cannot explain these different failure modes.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51560" y="4983480"/>
            <a:ext cx="10058400" cy="822960"/>
          </a:xfrm>
          <a:prstGeom prst="roundRect">
            <a:avLst/>
          </a:prstGeom>
          <a:solidFill>
            <a:srgbClr val="141F34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71600" y="5239512"/>
            <a:ext cx="9418320" cy="36576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2300" b="1">
                <a:solidFill>
                  <a:srgbClr val="F1F5F9"/>
                </a:solidFill>
                <a:latin typeface="Aptos"/>
              </a:rPr>
              <a:t>Main realization: a single fake/real detector is not enough for forensic audio review.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-365760"/>
            <a:ext cx="2560320" cy="256032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5029200"/>
            <a:ext cx="2560320" cy="256032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713232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Aptos"/>
              </a:rPr>
              <a:t>FASSD FINAL YEAR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9601200" cy="65836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2800" b="1">
                <a:solidFill>
                  <a:srgbClr val="F1F5F9"/>
                </a:solidFill>
                <a:latin typeface="Aptos"/>
              </a:rPr>
              <a:t>Problem Statement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243584"/>
            <a:ext cx="8778240" cy="4114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Aptos"/>
              </a:rPr>
              <a:t>Modern voice cloning is realistic; real recordings are messy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73952"/>
            <a:ext cx="5486400" cy="1828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ptos"/>
              </a:rPr>
              <a:t>Forensic Audio Source and Spoofing Detector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73952"/>
            <a:ext cx="548640" cy="1828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r"/>
            <a:r>
              <a:rPr sz="800" b="1">
                <a:solidFill>
                  <a:srgbClr val="22D3EE"/>
                </a:solidFill>
                <a:latin typeface="Aptos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828800"/>
            <a:ext cx="384048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48"/>
              </a:spcAft>
              <a:defRPr sz="2000">
                <a:solidFill>
                  <a:srgbClr val="F1F5F9"/>
                </a:solidFill>
                <a:latin typeface="Aptos"/>
              </a:defRPr>
            </a:pPr>
            <a:r>
              <a:t>Noise</a:t>
            </a:r>
          </a:p>
          <a:p>
            <a:pPr>
              <a:spcAft>
                <a:spcPts val="648"/>
              </a:spcAft>
              <a:defRPr sz="2000">
                <a:solidFill>
                  <a:srgbClr val="F1F5F9"/>
                </a:solidFill>
                <a:latin typeface="Aptos"/>
              </a:defRPr>
            </a:pPr>
            <a:r>
              <a:t>Compression</a:t>
            </a:r>
          </a:p>
          <a:p>
            <a:pPr>
              <a:spcAft>
                <a:spcPts val="648"/>
              </a:spcAft>
              <a:defRPr sz="2000">
                <a:solidFill>
                  <a:srgbClr val="F1F5F9"/>
                </a:solidFill>
                <a:latin typeface="Aptos"/>
              </a:defRPr>
            </a:pPr>
            <a:r>
              <a:t>Replay</a:t>
            </a:r>
          </a:p>
          <a:p>
            <a:pPr>
              <a:spcAft>
                <a:spcPts val="648"/>
              </a:spcAft>
              <a:defRPr sz="2000">
                <a:solidFill>
                  <a:srgbClr val="F1F5F9"/>
                </a:solidFill>
                <a:latin typeface="Aptos"/>
              </a:defRPr>
            </a:pPr>
            <a:r>
              <a:t>Broadcast chains</a:t>
            </a:r>
          </a:p>
          <a:p>
            <a:pPr>
              <a:spcAft>
                <a:spcPts val="648"/>
              </a:spcAft>
              <a:defRPr sz="2000">
                <a:solidFill>
                  <a:srgbClr val="F1F5F9"/>
                </a:solidFill>
                <a:latin typeface="Aptos"/>
              </a:defRPr>
            </a:pPr>
            <a:r>
              <a:t>Speaker-to-device recording</a:t>
            </a:r>
          </a:p>
          <a:p>
            <a:pPr>
              <a:spcAft>
                <a:spcPts val="648"/>
              </a:spcAft>
              <a:defRPr sz="2000">
                <a:solidFill>
                  <a:srgbClr val="F1F5F9"/>
                </a:solidFill>
                <a:latin typeface="Aptos"/>
              </a:defRPr>
            </a:pPr>
            <a:r>
              <a:t>Partial editing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1828800"/>
            <a:ext cx="6583680" cy="2194560"/>
          </a:xfrm>
          <a:prstGeom prst="roundRect">
            <a:avLst/>
          </a:prstGeom>
          <a:solidFill>
            <a:srgbClr val="141F34"/>
          </a:solidFill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92040" y="2084832"/>
            <a:ext cx="5943600" cy="173736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2300" b="1">
                <a:solidFill>
                  <a:srgbClr val="F1F5F9"/>
                </a:solidFill>
                <a:latin typeface="Aptos"/>
              </a:rPr>
              <a:t>How can we detect and explain suspicious forensic evidence in audio instead of only giving a binary fake/real label?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4800600"/>
            <a:ext cx="3200400" cy="822960"/>
          </a:xfrm>
          <a:prstGeom prst="roundRect">
            <a:avLst/>
          </a:prstGeom>
          <a:solidFill>
            <a:srgbClr val="0F172A"/>
          </a:solidFill>
          <a:ln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4946904"/>
            <a:ext cx="2798064" cy="2743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F87171"/>
                </a:solidFill>
                <a:latin typeface="Aptos"/>
              </a:rPr>
              <a:t>RISK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" y="5276088"/>
            <a:ext cx="2798064" cy="2286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500" b="1">
                <a:solidFill>
                  <a:srgbClr val="F1F5F9"/>
                </a:solidFill>
                <a:latin typeface="Aptos"/>
              </a:rPr>
              <a:t>Overclaiming can create false accusations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80560" y="4800600"/>
            <a:ext cx="3200400" cy="822960"/>
          </a:xfrm>
          <a:prstGeom prst="roundRect">
            <a:avLst/>
          </a:prstGeom>
          <a:solidFill>
            <a:srgbClr val="0F172A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81728" y="4946904"/>
            <a:ext cx="2798064" cy="2743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FBBF24"/>
                </a:solidFill>
                <a:latin typeface="Aptos"/>
              </a:rPr>
              <a:t>NEED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81728" y="5276088"/>
            <a:ext cx="2798064" cy="2286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500" b="1">
                <a:solidFill>
                  <a:srgbClr val="F1F5F9"/>
                </a:solidFill>
                <a:latin typeface="Aptos"/>
              </a:rPr>
              <a:t>Evidence bands + explanation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4800600"/>
            <a:ext cx="3200400" cy="822960"/>
          </a:xfrm>
          <a:prstGeom prst="roundRect">
            <a:avLst/>
          </a:prstGeom>
          <a:solidFill>
            <a:srgbClr val="0F172A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47888" y="4946904"/>
            <a:ext cx="2798064" cy="2743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34D399"/>
                </a:solidFill>
                <a:latin typeface="Aptos"/>
              </a:rPr>
              <a:t>OUTPUT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47888" y="5276088"/>
            <a:ext cx="2798064" cy="2286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500" b="1">
                <a:solidFill>
                  <a:srgbClr val="F1F5F9"/>
                </a:solidFill>
                <a:latin typeface="Aptos"/>
              </a:rPr>
              <a:t>Manual-review support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-365760"/>
            <a:ext cx="2560320" cy="256032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5029200"/>
            <a:ext cx="2560320" cy="256032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713232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Aptos"/>
              </a:rPr>
              <a:t>FASSD FINAL YEAR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9601200" cy="65836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2800" b="1">
                <a:solidFill>
                  <a:srgbClr val="F1F5F9"/>
                </a:solidFill>
                <a:latin typeface="Aptos"/>
              </a:rPr>
              <a:t>Project Aim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243584"/>
            <a:ext cx="8778240" cy="4114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Aptos"/>
              </a:rPr>
              <a:t>Move from a label to explainable forensic evidence axes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73952"/>
            <a:ext cx="5486400" cy="1828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ptos"/>
              </a:rPr>
              <a:t>Forensic Audio Source and Spoofing Detector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73952"/>
            <a:ext cx="548640" cy="1828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r"/>
            <a:r>
              <a:rPr sz="800" b="1">
                <a:solidFill>
                  <a:srgbClr val="22D3EE"/>
                </a:solidFill>
                <a:latin typeface="Aptos"/>
              </a:rPr>
              <a:t>04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828800"/>
            <a:ext cx="2592324" cy="1234440"/>
          </a:xfrm>
          <a:prstGeom prst="roundRect">
            <a:avLst/>
          </a:prstGeom>
          <a:solidFill>
            <a:srgbClr val="0F172A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975104"/>
            <a:ext cx="2189988" cy="2743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Apto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304288"/>
            <a:ext cx="2189988" cy="6400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Aptos"/>
              </a:rPr>
              <a:t>AI-origin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05556" y="2336292"/>
            <a:ext cx="219456" cy="219456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1600" b="1">
                <a:solidFill>
                  <a:srgbClr val="22D3EE"/>
                </a:solidFill>
                <a:latin typeface="Apto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33572" y="1828800"/>
            <a:ext cx="2592324" cy="1234440"/>
          </a:xfrm>
          <a:prstGeom prst="roundRect">
            <a:avLst/>
          </a:prstGeom>
          <a:solidFill>
            <a:srgbClr val="0F172A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34740" y="1975104"/>
            <a:ext cx="2189988" cy="2743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Apto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4740" y="2304288"/>
            <a:ext cx="2189988" cy="6400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Aptos"/>
              </a:rPr>
              <a:t>Replay / rerecording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07608" y="2336292"/>
            <a:ext cx="219456" cy="219456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1600" b="1">
                <a:solidFill>
                  <a:srgbClr val="22D3EE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35624" y="1828800"/>
            <a:ext cx="2592324" cy="1234440"/>
          </a:xfrm>
          <a:prstGeom prst="roundRect">
            <a:avLst/>
          </a:prstGeom>
          <a:solidFill>
            <a:srgbClr val="0F172A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36792" y="1975104"/>
            <a:ext cx="2189988" cy="2743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36792" y="2304288"/>
            <a:ext cx="2189988" cy="6400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Aptos"/>
              </a:rPr>
              <a:t>Mixer / channel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09660" y="2336292"/>
            <a:ext cx="219456" cy="219456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1600" b="1">
                <a:solidFill>
                  <a:srgbClr val="22D3EE"/>
                </a:solidFill>
                <a:latin typeface="Aptos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837676" y="1828800"/>
            <a:ext cx="2592324" cy="1234440"/>
          </a:xfrm>
          <a:prstGeom prst="roundRect">
            <a:avLst/>
          </a:prstGeom>
          <a:solidFill>
            <a:srgbClr val="0F172A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38844" y="1975104"/>
            <a:ext cx="2189988" cy="2743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Apto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38844" y="2304288"/>
            <a:ext cx="2189988" cy="6400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Aptos"/>
              </a:rPr>
              <a:t>Partial fabrication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05840" y="3977639"/>
            <a:ext cx="4389120" cy="1005840"/>
          </a:xfrm>
          <a:prstGeom prst="roundRect">
            <a:avLst/>
          </a:prstGeom>
          <a:solidFill>
            <a:srgbClr val="0F172A"/>
          </a:solidFill>
          <a:ln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07008" y="4123943"/>
            <a:ext cx="3986784" cy="2743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F87171"/>
                </a:solidFill>
                <a:latin typeface="Aptos"/>
              </a:rPr>
              <a:t>FROM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07008" y="4453127"/>
            <a:ext cx="3986784" cy="4114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2000" b="1">
                <a:solidFill>
                  <a:srgbClr val="F1F5F9"/>
                </a:solidFill>
                <a:latin typeface="Aptos"/>
              </a:rPr>
              <a:t>“Is this fake or real?”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3977639"/>
            <a:ext cx="4389120" cy="1005840"/>
          </a:xfrm>
          <a:prstGeom prst="roundRect">
            <a:avLst/>
          </a:prstGeom>
          <a:solidFill>
            <a:srgbClr val="0F172A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01968" y="4123943"/>
            <a:ext cx="3986784" cy="2743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34D399"/>
                </a:solidFill>
                <a:latin typeface="Aptos"/>
              </a:rPr>
              <a:t>TO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01968" y="4453127"/>
            <a:ext cx="3986784" cy="4114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2000" b="1">
                <a:solidFill>
                  <a:srgbClr val="F1F5F9"/>
                </a:solidFill>
                <a:latin typeface="Aptos"/>
              </a:rPr>
              <a:t>“What evidence exists?”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-365760"/>
            <a:ext cx="2560320" cy="256032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5029200"/>
            <a:ext cx="2560320" cy="256032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713232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Aptos"/>
              </a:rPr>
              <a:t>FASSD FINAL YEAR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9601200" cy="65836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2800" b="1">
                <a:solidFill>
                  <a:srgbClr val="F1F5F9"/>
                </a:solidFill>
                <a:latin typeface="Aptos"/>
              </a:rPr>
              <a:t>Methodology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243584"/>
            <a:ext cx="8778240" cy="4114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Aptos"/>
              </a:rPr>
              <a:t>Iterative and incremental development driven by experimental failures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73952"/>
            <a:ext cx="5486400" cy="1828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ptos"/>
              </a:rPr>
              <a:t>Forensic Audio Source and Spoofing Detector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73952"/>
            <a:ext cx="548640" cy="1828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r"/>
            <a:r>
              <a:rPr sz="800" b="1">
                <a:solidFill>
                  <a:srgbClr val="22D3EE"/>
                </a:solidFill>
                <a:latin typeface="Aptos"/>
              </a:rPr>
              <a:t>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920240"/>
            <a:ext cx="1737360" cy="1051560"/>
          </a:xfrm>
          <a:prstGeom prst="roundRect">
            <a:avLst/>
          </a:prstGeom>
          <a:solidFill>
            <a:srgbClr val="0F172A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2066544"/>
            <a:ext cx="1335024" cy="2743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FBBF24"/>
                </a:solidFill>
                <a:latin typeface="Apto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2395728"/>
            <a:ext cx="1335024" cy="4572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Aptos"/>
              </a:rPr>
              <a:t>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13432" y="2336292"/>
            <a:ext cx="219456" cy="219456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1600" b="1">
                <a:solidFill>
                  <a:srgbClr val="FBBF24"/>
                </a:solidFill>
                <a:latin typeface="Apto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41448" y="1920240"/>
            <a:ext cx="1737360" cy="1051560"/>
          </a:xfrm>
          <a:prstGeom prst="roundRect">
            <a:avLst/>
          </a:prstGeom>
          <a:solidFill>
            <a:srgbClr val="0F172A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42616" y="2066544"/>
            <a:ext cx="1335024" cy="2743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FBBF24"/>
                </a:solidFill>
                <a:latin typeface="Apto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42616" y="2395728"/>
            <a:ext cx="1335024" cy="4572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Aptos"/>
              </a:rPr>
              <a:t>Evaluate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0520" y="2336292"/>
            <a:ext cx="219456" cy="219456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1600" b="1">
                <a:solidFill>
                  <a:srgbClr val="FBBF24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88536" y="1920240"/>
            <a:ext cx="1737360" cy="1051560"/>
          </a:xfrm>
          <a:prstGeom prst="roundRect">
            <a:avLst/>
          </a:prstGeom>
          <a:solidFill>
            <a:srgbClr val="0F172A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9704" y="2066544"/>
            <a:ext cx="1335024" cy="2743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FBBF24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9704" y="2395728"/>
            <a:ext cx="1335024" cy="4572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Aptos"/>
              </a:rPr>
              <a:t>Find failure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07608" y="2336292"/>
            <a:ext cx="219456" cy="219456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1600" b="1">
                <a:solidFill>
                  <a:srgbClr val="FBBF24"/>
                </a:solidFill>
                <a:latin typeface="Aptos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35624" y="1920240"/>
            <a:ext cx="1737360" cy="1051560"/>
          </a:xfrm>
          <a:prstGeom prst="roundRect">
            <a:avLst/>
          </a:prstGeom>
          <a:solidFill>
            <a:srgbClr val="0F172A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36792" y="2066544"/>
            <a:ext cx="1335024" cy="2743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FBBF24"/>
                </a:solidFill>
                <a:latin typeface="Apto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36792" y="2395728"/>
            <a:ext cx="1335024" cy="4572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Aptos"/>
              </a:rPr>
              <a:t>Improve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54696" y="2336292"/>
            <a:ext cx="219456" cy="219456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1600" b="1">
                <a:solidFill>
                  <a:srgbClr val="FBBF24"/>
                </a:solidFill>
                <a:latin typeface="Aptos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82712" y="1920240"/>
            <a:ext cx="1737360" cy="1051560"/>
          </a:xfrm>
          <a:prstGeom prst="roundRect">
            <a:avLst/>
          </a:prstGeom>
          <a:solidFill>
            <a:srgbClr val="0F172A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83880" y="2066544"/>
            <a:ext cx="1335024" cy="2743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FBBF24"/>
                </a:solidFill>
                <a:latin typeface="Aptos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83880" y="2395728"/>
            <a:ext cx="1335024" cy="4572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Aptos"/>
              </a:rPr>
              <a:t>Test again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01784" y="2336292"/>
            <a:ext cx="219456" cy="219456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1600" b="1">
                <a:solidFill>
                  <a:srgbClr val="FBBF24"/>
                </a:solidFill>
                <a:latin typeface="Aptos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829800" y="1920240"/>
            <a:ext cx="1737360" cy="1051560"/>
          </a:xfrm>
          <a:prstGeom prst="roundRect">
            <a:avLst/>
          </a:prstGeom>
          <a:solidFill>
            <a:srgbClr val="0F172A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30968" y="2066544"/>
            <a:ext cx="1335024" cy="2743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FBBF24"/>
                </a:solidFill>
                <a:latin typeface="Aptos"/>
              </a:rP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30968" y="2395728"/>
            <a:ext cx="1335024" cy="4572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Aptos"/>
              </a:rPr>
              <a:t>Freeze release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3931920"/>
            <a:ext cx="97840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48"/>
              </a:spcAft>
              <a:defRPr sz="1800">
                <a:solidFill>
                  <a:srgbClr val="F1F5F9"/>
                </a:solidFill>
                <a:latin typeface="Aptos"/>
              </a:defRPr>
            </a:pPr>
            <a:r>
              <a:t>Requirements changed after real-world testing.</a:t>
            </a:r>
          </a:p>
          <a:p>
            <a:pPr>
              <a:spcAft>
                <a:spcPts val="648"/>
              </a:spcAft>
              <a:defRPr sz="1800">
                <a:solidFill>
                  <a:srgbClr val="F1F5F9"/>
                </a:solidFill>
                <a:latin typeface="Aptos"/>
              </a:defRPr>
            </a:pPr>
            <a:r>
              <a:t>Each phase produced a working output.</a:t>
            </a:r>
          </a:p>
          <a:p>
            <a:pPr>
              <a:spcAft>
                <a:spcPts val="648"/>
              </a:spcAft>
              <a:defRPr sz="1800">
                <a:solidFill>
                  <a:srgbClr val="F1F5F9"/>
                </a:solidFill>
                <a:latin typeface="Aptos"/>
              </a:defRPr>
            </a:pPr>
            <a:r>
              <a:t>Final architecture was selected using evidence, not only benchmark scores.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-365760"/>
            <a:ext cx="2560320" cy="256032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5029200"/>
            <a:ext cx="2560320" cy="256032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713232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Aptos"/>
              </a:rPr>
              <a:t>FASSD FINAL YEAR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9601200" cy="65836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2800" b="1">
                <a:solidFill>
                  <a:srgbClr val="F1F5F9"/>
                </a:solidFill>
                <a:latin typeface="Aptos"/>
              </a:rPr>
              <a:t>Full Project Journey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243584"/>
            <a:ext cx="8778240" cy="4114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Aptos"/>
              </a:rPr>
              <a:t>Every major design change came from a discovered limitation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73952"/>
            <a:ext cx="5486400" cy="1828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ptos"/>
              </a:rPr>
              <a:t>Forensic Audio Source and Spoofing Detector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73952"/>
            <a:ext cx="548640" cy="1828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r"/>
            <a:r>
              <a:rPr sz="800" b="1">
                <a:solidFill>
                  <a:srgbClr val="22D3EE"/>
                </a:solidFill>
                <a:latin typeface="Aptos"/>
              </a:rPr>
              <a:t>06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783080"/>
            <a:ext cx="2125065" cy="960120"/>
          </a:xfrm>
          <a:prstGeom prst="roundRect">
            <a:avLst/>
          </a:prstGeom>
          <a:solidFill>
            <a:srgbClr val="0F172A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1929384"/>
            <a:ext cx="1722729" cy="2743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Apto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258568"/>
            <a:ext cx="1722729" cy="36576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Aptos"/>
              </a:rPr>
              <a:t>CNN/LCNN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5417" y="2153412"/>
            <a:ext cx="219456" cy="219456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1600" b="1">
                <a:solidFill>
                  <a:srgbClr val="22D3EE"/>
                </a:solidFill>
                <a:latin typeface="Apto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83433" y="1783080"/>
            <a:ext cx="2125065" cy="960120"/>
          </a:xfrm>
          <a:prstGeom prst="roundRect">
            <a:avLst/>
          </a:prstGeom>
          <a:solidFill>
            <a:srgbClr val="0F172A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84601" y="1929384"/>
            <a:ext cx="1722729" cy="2743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Apto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84601" y="2258568"/>
            <a:ext cx="1722729" cy="36576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Aptos"/>
              </a:rPr>
              <a:t>ResNet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0211" y="2153412"/>
            <a:ext cx="219456" cy="219456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1600" b="1">
                <a:solidFill>
                  <a:srgbClr val="22D3EE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18227" y="1783080"/>
            <a:ext cx="2125065" cy="960120"/>
          </a:xfrm>
          <a:prstGeom prst="roundRect">
            <a:avLst/>
          </a:prstGeom>
          <a:solidFill>
            <a:srgbClr val="0F172A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19395" y="1929384"/>
            <a:ext cx="1722729" cy="2743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9395" y="2258568"/>
            <a:ext cx="1722729" cy="36576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Aptos"/>
              </a:rPr>
              <a:t>Environmental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25004" y="2153412"/>
            <a:ext cx="219456" cy="219456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1600" b="1">
                <a:solidFill>
                  <a:srgbClr val="22D3EE"/>
                </a:solidFill>
                <a:latin typeface="Aptos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53020" y="1783080"/>
            <a:ext cx="2125065" cy="960120"/>
          </a:xfrm>
          <a:prstGeom prst="roundRect">
            <a:avLst/>
          </a:prstGeom>
          <a:solidFill>
            <a:srgbClr val="0F172A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54188" y="1929384"/>
            <a:ext cx="1722729" cy="2743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Apto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4188" y="2258568"/>
            <a:ext cx="1722729" cy="36576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Aptos"/>
              </a:rPr>
              <a:t>Hybrid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59798" y="2153412"/>
            <a:ext cx="219456" cy="219456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1600" b="1">
                <a:solidFill>
                  <a:srgbClr val="22D3EE"/>
                </a:solidFill>
                <a:latin typeface="Aptos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487814" y="1783080"/>
            <a:ext cx="2125065" cy="960120"/>
          </a:xfrm>
          <a:prstGeom prst="roundRect">
            <a:avLst/>
          </a:prstGeom>
          <a:solidFill>
            <a:srgbClr val="0F172A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88982" y="1929384"/>
            <a:ext cx="1722729" cy="2743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Aptos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88982" y="2258568"/>
            <a:ext cx="1722729" cy="36576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Aptos"/>
              </a:rPr>
              <a:t>AASIST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3154680"/>
            <a:ext cx="2125065" cy="960120"/>
          </a:xfrm>
          <a:prstGeom prst="roundRect">
            <a:avLst/>
          </a:prstGeom>
          <a:solidFill>
            <a:srgbClr val="0F172A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9808" y="3300984"/>
            <a:ext cx="1722729" cy="2743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34D399"/>
                </a:solidFill>
                <a:latin typeface="Aptos"/>
              </a:rPr>
              <a:t>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8" y="3630168"/>
            <a:ext cx="1722729" cy="36576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Aptos"/>
              </a:rPr>
              <a:t>Controlled tests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55417" y="3525012"/>
            <a:ext cx="219456" cy="219456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1600" b="1">
                <a:solidFill>
                  <a:srgbClr val="34D399"/>
                </a:solidFill>
                <a:latin typeface="Aptos"/>
              </a:rP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783433" y="3154680"/>
            <a:ext cx="2125065" cy="960120"/>
          </a:xfrm>
          <a:prstGeom prst="roundRect">
            <a:avLst/>
          </a:prstGeom>
          <a:solidFill>
            <a:srgbClr val="0F172A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984601" y="3300984"/>
            <a:ext cx="1722729" cy="2743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34D399"/>
                </a:solidFill>
                <a:latin typeface="Aptos"/>
              </a:rPr>
              <a:t>02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84601" y="3630168"/>
            <a:ext cx="1722729" cy="36576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Aptos"/>
              </a:rPr>
              <a:t>Multi-axis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90211" y="3525012"/>
            <a:ext cx="219456" cy="219456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1600" b="1">
                <a:solidFill>
                  <a:srgbClr val="34D399"/>
                </a:solidFill>
                <a:latin typeface="Aptos"/>
              </a:rPr>
              <a:t>→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18227" y="3154680"/>
            <a:ext cx="2125065" cy="960120"/>
          </a:xfrm>
          <a:prstGeom prst="roundRect">
            <a:avLst/>
          </a:prstGeom>
          <a:solidFill>
            <a:srgbClr val="0F172A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219395" y="3300984"/>
            <a:ext cx="1722729" cy="2743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34D399"/>
                </a:solidFill>
                <a:latin typeface="Aptos"/>
              </a:rPr>
              <a:t>03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9395" y="3630168"/>
            <a:ext cx="1722729" cy="36576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Aptos"/>
              </a:rPr>
              <a:t>Phase 9 API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25004" y="3525012"/>
            <a:ext cx="219456" cy="219456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1600" b="1">
                <a:solidFill>
                  <a:srgbClr val="34D399"/>
                </a:solidFill>
                <a:latin typeface="Aptos"/>
              </a:rPr>
              <a:t>→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253020" y="3154680"/>
            <a:ext cx="2125065" cy="960120"/>
          </a:xfrm>
          <a:prstGeom prst="roundRect">
            <a:avLst/>
          </a:prstGeom>
          <a:solidFill>
            <a:srgbClr val="0F172A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454188" y="3300984"/>
            <a:ext cx="1722729" cy="2743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34D399"/>
                </a:solidFill>
                <a:latin typeface="Aptos"/>
              </a:rPr>
              <a:t>04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54188" y="3630168"/>
            <a:ext cx="1722729" cy="36576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Aptos"/>
              </a:rPr>
              <a:t>Web deploy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59798" y="3525012"/>
            <a:ext cx="219456" cy="219456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1600" b="1">
                <a:solidFill>
                  <a:srgbClr val="34D399"/>
                </a:solidFill>
                <a:latin typeface="Aptos"/>
              </a:rPr>
              <a:t>→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487814" y="3154680"/>
            <a:ext cx="2125065" cy="960120"/>
          </a:xfrm>
          <a:prstGeom prst="roundRect">
            <a:avLst/>
          </a:prstGeom>
          <a:solidFill>
            <a:srgbClr val="0F172A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688982" y="3300984"/>
            <a:ext cx="1722729" cy="2743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34D399"/>
                </a:solidFill>
                <a:latin typeface="Aptos"/>
              </a:rPr>
              <a:t>05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88982" y="3630168"/>
            <a:ext cx="1722729" cy="36576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Aptos"/>
              </a:rPr>
              <a:t>Case studies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05840" y="4983480"/>
            <a:ext cx="10058400" cy="777240"/>
          </a:xfrm>
          <a:prstGeom prst="roundRect">
            <a:avLst/>
          </a:prstGeom>
          <a:solidFill>
            <a:srgbClr val="141F34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325880" y="5239512"/>
            <a:ext cx="941832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2300" b="1">
                <a:solidFill>
                  <a:srgbClr val="F1F5F9"/>
                </a:solidFill>
                <a:latin typeface="Aptos"/>
              </a:rPr>
              <a:t>The final system is the result of failure analysis, not random model switching.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-365760"/>
            <a:ext cx="2560320" cy="256032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5029200"/>
            <a:ext cx="2560320" cy="256032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713232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Aptos"/>
              </a:rPr>
              <a:t>FASSD FINAL YEAR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9601200" cy="65836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2800" b="1">
                <a:solidFill>
                  <a:srgbClr val="F1F5F9"/>
                </a:solidFill>
                <a:latin typeface="Aptos"/>
              </a:rPr>
              <a:t>Dataset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243584"/>
            <a:ext cx="8778240" cy="4114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Aptos"/>
              </a:rPr>
              <a:t>Large unified dataset with spoof, bona fide, replay, conversion and synthesis samples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73952"/>
            <a:ext cx="5486400" cy="1828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ptos"/>
              </a:rPr>
              <a:t>Forensic Audio Source and Spoofing Detector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73952"/>
            <a:ext cx="548640" cy="1828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r"/>
            <a:r>
              <a:rPr sz="800" b="1">
                <a:solidFill>
                  <a:srgbClr val="22D3EE"/>
                </a:solidFill>
                <a:latin typeface="Aptos"/>
              </a:rPr>
              <a:t>07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600200"/>
            <a:ext cx="2743200" cy="822960"/>
          </a:xfrm>
          <a:prstGeom prst="roundRect">
            <a:avLst/>
          </a:prstGeom>
          <a:solidFill>
            <a:srgbClr val="0F172A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746504"/>
            <a:ext cx="2340864" cy="2743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Aptos"/>
              </a:rPr>
              <a:t>UNIFIED SIZE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075688"/>
            <a:ext cx="2340864" cy="2286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2400" b="1">
                <a:solidFill>
                  <a:srgbClr val="F1F5F9"/>
                </a:solidFill>
                <a:latin typeface="Aptos"/>
              </a:rPr>
              <a:t>1,893,919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0" y="1600200"/>
            <a:ext cx="2743200" cy="822960"/>
          </a:xfrm>
          <a:prstGeom prst="roundRect">
            <a:avLst/>
          </a:prstGeom>
          <a:solidFill>
            <a:srgbClr val="0F172A"/>
          </a:solidFill>
          <a:ln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58768" y="1746504"/>
            <a:ext cx="2340864" cy="2743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F87171"/>
                </a:solidFill>
                <a:latin typeface="Aptos"/>
              </a:rPr>
              <a:t>SPOOF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58768" y="2075688"/>
            <a:ext cx="2340864" cy="2286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2400" b="1">
                <a:solidFill>
                  <a:srgbClr val="F1F5F9"/>
                </a:solidFill>
                <a:latin typeface="Aptos"/>
              </a:rPr>
              <a:t>1,573,308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0" y="1600200"/>
            <a:ext cx="2743200" cy="822960"/>
          </a:xfrm>
          <a:prstGeom prst="roundRect">
            <a:avLst/>
          </a:prstGeom>
          <a:solidFill>
            <a:srgbClr val="0F172A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84848" y="1746504"/>
            <a:ext cx="2340864" cy="2743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34D399"/>
                </a:solidFill>
                <a:latin typeface="Aptos"/>
              </a:rPr>
              <a:t>BONA FIDE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84848" y="2075688"/>
            <a:ext cx="2340864" cy="2286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2400" b="1">
                <a:solidFill>
                  <a:srgbClr val="F1F5F9"/>
                </a:solidFill>
                <a:latin typeface="Aptos"/>
              </a:rPr>
              <a:t>320,611</a:t>
            </a:r>
          </a:p>
        </p:txBody>
      </p:sp>
      <p:graphicFrame>
        <p:nvGraphicFramePr>
          <p:cNvPr id="19" name="Chart 18"/>
          <p:cNvGraphicFramePr>
            <a:graphicFrameLocks noGrp="1"/>
          </p:cNvGraphicFramePr>
          <p:nvPr/>
        </p:nvGraphicFramePr>
        <p:xfrm>
          <a:off x="777240" y="2788920"/>
          <a:ext cx="4846320" cy="3017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20" name="Chart 19"/>
          <p:cNvGraphicFramePr>
            <a:graphicFrameLocks noGrp="1"/>
          </p:cNvGraphicFramePr>
          <p:nvPr/>
        </p:nvGraphicFramePr>
        <p:xfrm>
          <a:off x="5989320" y="2788920"/>
          <a:ext cx="5303520" cy="30175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-365760"/>
            <a:ext cx="2560320" cy="256032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5029200"/>
            <a:ext cx="2560320" cy="256032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713232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Aptos"/>
              </a:rPr>
              <a:t>FASSD FINAL YEAR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9601200" cy="65836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2800" b="1">
                <a:solidFill>
                  <a:srgbClr val="F1F5F9"/>
                </a:solidFill>
                <a:latin typeface="Aptos"/>
              </a:rPr>
              <a:t>Audio Processing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243584"/>
            <a:ext cx="8778240" cy="4114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Aptos"/>
              </a:rPr>
              <a:t>Consistent backend processing before evidence scoring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73952"/>
            <a:ext cx="5486400" cy="1828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ptos"/>
              </a:rPr>
              <a:t>Forensic Audio Source and Spoofing Detector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73952"/>
            <a:ext cx="548640" cy="1828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r"/>
            <a:r>
              <a:rPr sz="800" b="1">
                <a:solidFill>
                  <a:srgbClr val="22D3EE"/>
                </a:solidFill>
                <a:latin typeface="Aptos"/>
              </a:rPr>
              <a:t>08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965960"/>
            <a:ext cx="1141984" cy="1005840"/>
          </a:xfrm>
          <a:prstGeom prst="roundRect">
            <a:avLst/>
          </a:prstGeom>
          <a:solidFill>
            <a:srgbClr val="0F172A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112264"/>
            <a:ext cx="739648" cy="2743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Apto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441448"/>
            <a:ext cx="739648" cy="4114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Aptos"/>
              </a:rPr>
              <a:t>Upload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26616" y="2359152"/>
            <a:ext cx="219456" cy="219456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1600" b="1">
                <a:solidFill>
                  <a:srgbClr val="22D3EE"/>
                </a:solidFill>
                <a:latin typeface="Apto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754632" y="1965960"/>
            <a:ext cx="1141984" cy="1005840"/>
          </a:xfrm>
          <a:prstGeom prst="roundRect">
            <a:avLst/>
          </a:prstGeom>
          <a:solidFill>
            <a:srgbClr val="0F172A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955800" y="2112264"/>
            <a:ext cx="739648" cy="2743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Apto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55800" y="2441448"/>
            <a:ext cx="739648" cy="4114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Aptos"/>
              </a:rPr>
              <a:t>Load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78328" y="2359152"/>
            <a:ext cx="219456" cy="219456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1600" b="1">
                <a:solidFill>
                  <a:srgbClr val="22D3EE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006344" y="1965960"/>
            <a:ext cx="1141984" cy="1005840"/>
          </a:xfrm>
          <a:prstGeom prst="roundRect">
            <a:avLst/>
          </a:prstGeom>
          <a:solidFill>
            <a:srgbClr val="0F172A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7512" y="2112264"/>
            <a:ext cx="739648" cy="2743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7512" y="2441448"/>
            <a:ext cx="739648" cy="4114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Aptos"/>
              </a:rPr>
              <a:t>Resample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30040" y="2359152"/>
            <a:ext cx="219456" cy="219456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1600" b="1">
                <a:solidFill>
                  <a:srgbClr val="22D3EE"/>
                </a:solidFill>
                <a:latin typeface="Aptos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58056" y="1965960"/>
            <a:ext cx="1141984" cy="1005840"/>
          </a:xfrm>
          <a:prstGeom prst="roundRect">
            <a:avLst/>
          </a:prstGeom>
          <a:solidFill>
            <a:srgbClr val="0F172A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59224" y="2112264"/>
            <a:ext cx="739648" cy="2743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Apto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59224" y="2441448"/>
            <a:ext cx="739648" cy="4114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Aptos"/>
              </a:rPr>
              <a:t>Normalize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81752" y="2359152"/>
            <a:ext cx="219456" cy="219456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1600" b="1">
                <a:solidFill>
                  <a:srgbClr val="22D3EE"/>
                </a:solidFill>
                <a:latin typeface="Aptos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509768" y="1965960"/>
            <a:ext cx="1141984" cy="1005840"/>
          </a:xfrm>
          <a:prstGeom prst="roundRect">
            <a:avLst/>
          </a:prstGeom>
          <a:solidFill>
            <a:srgbClr val="0F172A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10936" y="2112264"/>
            <a:ext cx="739648" cy="2743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Aptos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10936" y="2441448"/>
            <a:ext cx="739648" cy="4114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Aptos"/>
              </a:rPr>
              <a:t>Segment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33464" y="2359152"/>
            <a:ext cx="219456" cy="219456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1600" b="1">
                <a:solidFill>
                  <a:srgbClr val="22D3EE"/>
                </a:solidFill>
                <a:latin typeface="Aptos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761480" y="1965960"/>
            <a:ext cx="1141984" cy="1005840"/>
          </a:xfrm>
          <a:prstGeom prst="roundRect">
            <a:avLst/>
          </a:prstGeom>
          <a:solidFill>
            <a:srgbClr val="0F172A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62648" y="2112264"/>
            <a:ext cx="739648" cy="2743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Aptos"/>
              </a:rP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62648" y="2441448"/>
            <a:ext cx="739648" cy="4114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Aptos"/>
              </a:rPr>
              <a:t>Features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85176" y="2359152"/>
            <a:ext cx="219456" cy="219456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1600" b="1">
                <a:solidFill>
                  <a:srgbClr val="22D3EE"/>
                </a:solidFill>
                <a:latin typeface="Aptos"/>
              </a:rP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13192" y="1965960"/>
            <a:ext cx="1141984" cy="1005840"/>
          </a:xfrm>
          <a:prstGeom prst="roundRect">
            <a:avLst/>
          </a:prstGeom>
          <a:solidFill>
            <a:srgbClr val="0F172A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14360" y="2112264"/>
            <a:ext cx="739648" cy="2743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Aptos"/>
              </a:rPr>
              <a:t>07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14360" y="2441448"/>
            <a:ext cx="739648" cy="4114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Aptos"/>
              </a:rPr>
              <a:t>Evidence models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36888" y="2359152"/>
            <a:ext cx="219456" cy="219456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1600" b="1">
                <a:solidFill>
                  <a:srgbClr val="22D3EE"/>
                </a:solidFill>
                <a:latin typeface="Aptos"/>
              </a:rPr>
              <a:t>→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264904" y="1965960"/>
            <a:ext cx="1141984" cy="1005840"/>
          </a:xfrm>
          <a:prstGeom prst="roundRect">
            <a:avLst/>
          </a:prstGeom>
          <a:solidFill>
            <a:srgbClr val="0F172A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466072" y="2112264"/>
            <a:ext cx="739648" cy="2743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Aptos"/>
              </a:rPr>
              <a:t>08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66072" y="2441448"/>
            <a:ext cx="739648" cy="4114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Aptos"/>
              </a:rPr>
              <a:t>Fusion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388600" y="2359152"/>
            <a:ext cx="219456" cy="219456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1600" b="1">
                <a:solidFill>
                  <a:srgbClr val="22D3EE"/>
                </a:solidFill>
                <a:latin typeface="Aptos"/>
              </a:rPr>
              <a:t>→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516616" y="1965960"/>
            <a:ext cx="1141984" cy="1005840"/>
          </a:xfrm>
          <a:prstGeom prst="roundRect">
            <a:avLst/>
          </a:prstGeom>
          <a:solidFill>
            <a:srgbClr val="0F172A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717784" y="2112264"/>
            <a:ext cx="739648" cy="2743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Aptos"/>
              </a:rPr>
              <a:t>09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717784" y="2441448"/>
            <a:ext cx="739648" cy="4114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Aptos"/>
              </a:rPr>
              <a:t>Report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" y="4069080"/>
            <a:ext cx="100584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48"/>
              </a:spcAft>
              <a:defRPr sz="1800">
                <a:solidFill>
                  <a:srgbClr val="F1F5F9"/>
                </a:solidFill>
                <a:latin typeface="Aptos"/>
              </a:defRPr>
            </a:pPr>
            <a:r>
              <a:t>Standardizes different audio formats and sample rates.</a:t>
            </a:r>
          </a:p>
          <a:p>
            <a:pPr>
              <a:spcAft>
                <a:spcPts val="648"/>
              </a:spcAft>
              <a:defRPr sz="1800">
                <a:solidFill>
                  <a:srgbClr val="F1F5F9"/>
                </a:solidFill>
                <a:latin typeface="Aptos"/>
              </a:defRPr>
            </a:pPr>
            <a:r>
              <a:t>Segment-level analysis supports partial fabrication review.</a:t>
            </a:r>
          </a:p>
          <a:p>
            <a:pPr>
              <a:spcAft>
                <a:spcPts val="648"/>
              </a:spcAft>
              <a:defRPr sz="1800">
                <a:solidFill>
                  <a:srgbClr val="F1F5F9"/>
                </a:solidFill>
                <a:latin typeface="Aptos"/>
              </a:defRPr>
            </a:pPr>
            <a:r>
              <a:t>Reports are generated as decision-support evidence, not proof.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-365760"/>
            <a:ext cx="2560320" cy="256032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5029200"/>
            <a:ext cx="2560320" cy="256032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713232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Aptos"/>
              </a:rPr>
              <a:t>FASSD FINAL YEAR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9601200" cy="65836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2800" b="1">
                <a:solidFill>
                  <a:srgbClr val="F1F5F9"/>
                </a:solidFill>
                <a:latin typeface="Aptos"/>
              </a:rPr>
              <a:t>Feature Extraction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243584"/>
            <a:ext cx="8778240" cy="4114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Aptos"/>
              </a:rPr>
              <a:t>Different manipulations leave different traces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73952"/>
            <a:ext cx="5486400" cy="1828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ptos"/>
              </a:rPr>
              <a:t>Forensic Audio Source and Spoofing Detector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73952"/>
            <a:ext cx="548640" cy="1828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r"/>
            <a:r>
              <a:rPr sz="800" b="1">
                <a:solidFill>
                  <a:srgbClr val="22D3EE"/>
                </a:solidFill>
                <a:latin typeface="Aptos"/>
              </a:rPr>
              <a:t>09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914400" y="1645920"/>
          <a:ext cx="54864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48768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2D3EE"/>
                          </a:solidFill>
                          <a:latin typeface="Aptos"/>
                        </a:rPr>
                        <a:t>Feature type</a:t>
                      </a:r>
                    </a:p>
                  </a:txBody>
                  <a:tcPr marL="54864" marR="54864" anchor="ctr">
                    <a:solidFill>
                      <a:srgbClr val="141F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2D3EE"/>
                          </a:solidFill>
                          <a:latin typeface="Aptos"/>
                        </a:rPr>
                        <a:t>Primary role</a:t>
                      </a:r>
                    </a:p>
                  </a:txBody>
                  <a:tcPr marL="54864" marR="54864" anchor="ctr">
                    <a:solidFill>
                      <a:srgbClr val="141F34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1F5F9"/>
                          </a:solidFill>
                          <a:latin typeface="Aptos"/>
                        </a:rPr>
                        <a:t>LFCC</a:t>
                      </a:r>
                    </a:p>
                  </a:txBody>
                  <a:tcPr marL="54864" marR="54864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1F5F9"/>
                          </a:solidFill>
                          <a:latin typeface="Aptos"/>
                        </a:rPr>
                        <a:t>Baseline spoofing detection</a:t>
                      </a:r>
                    </a:p>
                  </a:txBody>
                  <a:tcPr marL="54864" marR="54864" anchor="ctr">
                    <a:solidFill>
                      <a:srgbClr val="0F172A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1F5F9"/>
                          </a:solidFill>
                          <a:latin typeface="Aptos"/>
                        </a:rPr>
                        <a:t>Log-Mel</a:t>
                      </a:r>
                    </a:p>
                  </a:txBody>
                  <a:tcPr marL="54864" marR="54864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1F5F9"/>
                          </a:solidFill>
                          <a:latin typeface="Aptos"/>
                        </a:rPr>
                        <a:t>Spectral deep learning models</a:t>
                      </a:r>
                    </a:p>
                  </a:txBody>
                  <a:tcPr marL="54864" marR="54864" anchor="ctr">
                    <a:solidFill>
                      <a:srgbClr val="0F172A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1F5F9"/>
                          </a:solidFill>
                          <a:latin typeface="Aptos"/>
                        </a:rPr>
                        <a:t>Environmental features</a:t>
                      </a:r>
                    </a:p>
                  </a:txBody>
                  <a:tcPr marL="54864" marR="54864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1F5F9"/>
                          </a:solidFill>
                          <a:latin typeface="Aptos"/>
                        </a:rPr>
                        <a:t>Replay and channel evidence</a:t>
                      </a:r>
                    </a:p>
                  </a:txBody>
                  <a:tcPr marL="54864" marR="54864" anchor="ctr">
                    <a:solidFill>
                      <a:srgbClr val="0F172A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1F5F9"/>
                          </a:solidFill>
                          <a:latin typeface="Aptos"/>
                        </a:rPr>
                        <a:t>SSL embeddings</a:t>
                      </a:r>
                    </a:p>
                  </a:txBody>
                  <a:tcPr marL="54864" marR="54864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1F5F9"/>
                          </a:solidFill>
                          <a:latin typeface="Aptos"/>
                        </a:rPr>
                        <a:t>AI-origin evidence</a:t>
                      </a:r>
                    </a:p>
                  </a:txBody>
                  <a:tcPr marL="54864" marR="54864" anchor="ctr">
                    <a:solidFill>
                      <a:srgbClr val="0F172A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1F5F9"/>
                          </a:solidFill>
                          <a:latin typeface="Aptos"/>
                        </a:rPr>
                        <a:t>Segment transitions</a:t>
                      </a:r>
                    </a:p>
                  </a:txBody>
                  <a:tcPr marL="54864" marR="54864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1F5F9"/>
                          </a:solidFill>
                          <a:latin typeface="Aptos"/>
                        </a:rPr>
                        <a:t>Partial fabrication candidates</a:t>
                      </a:r>
                    </a:p>
                  </a:txBody>
                  <a:tcPr marL="54864" marR="54864" anchor="ctr"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949440" y="1828800"/>
            <a:ext cx="429768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48"/>
              </a:spcAft>
              <a:defRPr sz="1800">
                <a:solidFill>
                  <a:srgbClr val="F1F5F9"/>
                </a:solidFill>
                <a:latin typeface="Aptos"/>
              </a:defRPr>
            </a:pPr>
            <a:r>
              <a:t>AI speech: voice-origin patterns</a:t>
            </a:r>
          </a:p>
          <a:p>
            <a:pPr>
              <a:spcAft>
                <a:spcPts val="648"/>
              </a:spcAft>
              <a:defRPr sz="1800">
                <a:solidFill>
                  <a:srgbClr val="F1F5F9"/>
                </a:solidFill>
                <a:latin typeface="Aptos"/>
              </a:defRPr>
            </a:pPr>
            <a:r>
              <a:t>Replay: recording-chain patterns</a:t>
            </a:r>
          </a:p>
          <a:p>
            <a:pPr>
              <a:spcAft>
                <a:spcPts val="648"/>
              </a:spcAft>
              <a:defRPr sz="1800">
                <a:solidFill>
                  <a:srgbClr val="F1F5F9"/>
                </a:solidFill>
                <a:latin typeface="Aptos"/>
              </a:defRPr>
            </a:pPr>
            <a:r>
              <a:t>Mixer/channel: acoustic conditions</a:t>
            </a:r>
          </a:p>
          <a:p>
            <a:pPr>
              <a:spcAft>
                <a:spcPts val="648"/>
              </a:spcAft>
              <a:defRPr sz="1800">
                <a:solidFill>
                  <a:srgbClr val="F1F5F9"/>
                </a:solidFill>
                <a:latin typeface="Aptos"/>
              </a:defRPr>
            </a:pPr>
            <a:r>
              <a:t>Partial fabrication: local segment discontinuities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-365760"/>
            <a:ext cx="2560320" cy="256032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5029200"/>
            <a:ext cx="2560320" cy="256032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713232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Aptos"/>
              </a:rPr>
              <a:t>FASSD FINAL YEAR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9601200" cy="65836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2800" b="1">
                <a:solidFill>
                  <a:srgbClr val="F1F5F9"/>
                </a:solidFill>
                <a:latin typeface="Aptos"/>
              </a:rPr>
              <a:t>Model Experiments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243584"/>
            <a:ext cx="8778240" cy="4114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Aptos"/>
              </a:rPr>
              <a:t>Strong benchmark numbers did not always mean safe deployment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73952"/>
            <a:ext cx="5486400" cy="1828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ptos"/>
              </a:rPr>
              <a:t>Forensic Audio Source and Spoofing Detector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73952"/>
            <a:ext cx="548640" cy="1828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r"/>
            <a:r>
              <a:rPr sz="800" b="1">
                <a:solidFill>
                  <a:srgbClr val="22D3EE"/>
                </a:solidFill>
                <a:latin typeface="Aptos"/>
              </a:rPr>
              <a:t>10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731520" y="1554480"/>
          <a:ext cx="5120640" cy="3108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6400800" y="1737360"/>
            <a:ext cx="4754880" cy="868680"/>
          </a:xfrm>
          <a:prstGeom prst="roundRect">
            <a:avLst/>
          </a:prstGeom>
          <a:solidFill>
            <a:srgbClr val="0F172A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01968" y="1883664"/>
            <a:ext cx="4352544" cy="2743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FBBF24"/>
                </a:solidFill>
                <a:latin typeface="Aptos"/>
              </a:rPr>
              <a:t>KEY LESSON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01968" y="2212848"/>
            <a:ext cx="4352544" cy="2743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600" b="1">
                <a:solidFill>
                  <a:srgbClr val="F1F5F9"/>
                </a:solidFill>
                <a:latin typeface="Aptos"/>
              </a:rPr>
              <a:t>ResNet had excellent EER but failed real-world style tests.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2834640"/>
            <a:ext cx="4754880" cy="868680"/>
          </a:xfrm>
          <a:prstGeom prst="roundRect">
            <a:avLst/>
          </a:prstGeom>
          <a:solidFill>
            <a:srgbClr val="0F172A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1968" y="2980944"/>
            <a:ext cx="4352544" cy="2743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34D399"/>
                </a:solidFill>
                <a:latin typeface="Aptos"/>
              </a:rPr>
              <a:t>DECISION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01968" y="3310128"/>
            <a:ext cx="4352544" cy="2743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600" b="1">
                <a:solidFill>
                  <a:srgbClr val="F1F5F9"/>
                </a:solidFill>
                <a:latin typeface="Aptos"/>
              </a:rPr>
              <a:t>Final system prioritizes evidence coverage and safe reporting.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3931920"/>
            <a:ext cx="4754880" cy="868680"/>
          </a:xfrm>
          <a:prstGeom prst="roundRect">
            <a:avLst/>
          </a:prstGeom>
          <a:solidFill>
            <a:srgbClr val="0F172A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01968" y="4078224"/>
            <a:ext cx="4352544" cy="2743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Aptos"/>
              </a:rPr>
              <a:t>DEFENSE POINT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1968" y="4407408"/>
            <a:ext cx="4352544" cy="2743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600" b="1">
                <a:solidFill>
                  <a:srgbClr val="F1F5F9"/>
                </a:solidFill>
                <a:latin typeface="Aptos"/>
              </a:rPr>
              <a:t>We do not claim universal benchmark superiority.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-365760"/>
            <a:ext cx="2560320" cy="256032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5029200"/>
            <a:ext cx="2560320" cy="256032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713232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Aptos"/>
              </a:rPr>
              <a:t>FASSD FINAL YEAR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9601200" cy="65836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2800" b="1">
                <a:solidFill>
                  <a:srgbClr val="F1F5F9"/>
                </a:solidFill>
                <a:latin typeface="Aptos"/>
              </a:rPr>
              <a:t>AASIST Experiment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243584"/>
            <a:ext cx="8778240" cy="4114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Aptos"/>
              </a:rPr>
              <a:t>A strong literature model was rejected after controlled testing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73952"/>
            <a:ext cx="5486400" cy="1828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ptos"/>
              </a:rPr>
              <a:t>Forensic Audio Source and Spoofing Detector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73952"/>
            <a:ext cx="548640" cy="1828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r"/>
            <a:r>
              <a:rPr sz="800" b="1">
                <a:solidFill>
                  <a:srgbClr val="22D3EE"/>
                </a:solidFill>
                <a:latin typeface="Aptos"/>
              </a:rPr>
              <a:t>11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914400" y="1737360"/>
          <a:ext cx="484632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6309360" y="1874519"/>
            <a:ext cx="4663440" cy="1097280"/>
          </a:xfrm>
          <a:prstGeom prst="roundRect">
            <a:avLst/>
          </a:prstGeom>
          <a:solidFill>
            <a:srgbClr val="141F34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130551"/>
            <a:ext cx="4023360" cy="6400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2300" b="1">
                <a:solidFill>
                  <a:srgbClr val="F1F5F9"/>
                </a:solidFill>
                <a:latin typeface="Aptos"/>
              </a:rPr>
              <a:t>22 out of 23 clean human recordings were falsely flagged.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337560"/>
            <a:ext cx="45720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48"/>
              </a:spcAft>
              <a:defRPr sz="1600">
                <a:solidFill>
                  <a:srgbClr val="F1F5F9"/>
                </a:solidFill>
                <a:latin typeface="Aptos"/>
              </a:defRPr>
            </a:pPr>
            <a:r>
              <a:t>False accusations are high-risk in forensic interfaces.</a:t>
            </a:r>
          </a:p>
          <a:p>
            <a:pPr>
              <a:spcAft>
                <a:spcPts val="648"/>
              </a:spcAft>
              <a:defRPr sz="1600">
                <a:solidFill>
                  <a:srgbClr val="F1F5F9"/>
                </a:solidFill>
                <a:latin typeface="Aptos"/>
              </a:defRPr>
            </a:pPr>
            <a:r>
              <a:t>A strong research model is not automatically safe for deployment.</a:t>
            </a:r>
          </a:p>
          <a:p>
            <a:pPr>
              <a:spcAft>
                <a:spcPts val="648"/>
              </a:spcAft>
              <a:defRPr sz="1600">
                <a:solidFill>
                  <a:srgbClr val="F1F5F9"/>
                </a:solidFill>
                <a:latin typeface="Aptos"/>
              </a:defRPr>
            </a:pPr>
            <a:r>
              <a:t>This justified the cautious multi-axis design.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-365760"/>
            <a:ext cx="2560320" cy="256032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5029200"/>
            <a:ext cx="2560320" cy="256032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713232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Aptos"/>
              </a:rPr>
              <a:t>FASSD FINAL YEAR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9601200" cy="65836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2800" b="1">
                <a:solidFill>
                  <a:srgbClr val="F1F5F9"/>
                </a:solidFill>
                <a:latin typeface="Aptos"/>
              </a:rPr>
              <a:t>Final Phase 9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243584"/>
            <a:ext cx="8778240" cy="4114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Aptos"/>
              </a:rPr>
              <a:t>Four evidence axes + fusion + report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73952"/>
            <a:ext cx="5486400" cy="1828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ptos"/>
              </a:rPr>
              <a:t>Forensic Audio Source and Spoofing Detector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73952"/>
            <a:ext cx="548640" cy="1828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r"/>
            <a:r>
              <a:rPr sz="800" b="1">
                <a:solidFill>
                  <a:srgbClr val="22D3EE"/>
                </a:solidFill>
                <a:latin typeface="Aptos"/>
              </a:rPr>
              <a:t>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828800"/>
            <a:ext cx="1298448" cy="1024128"/>
          </a:xfrm>
          <a:prstGeom prst="roundRect">
            <a:avLst/>
          </a:prstGeom>
          <a:solidFill>
            <a:srgbClr val="0F172A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75104"/>
            <a:ext cx="896112" cy="2743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Apto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04288"/>
            <a:ext cx="896112" cy="42976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Aptos"/>
              </a:rPr>
              <a:t>Audio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2231136"/>
            <a:ext cx="219456" cy="219456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1600" b="1">
                <a:solidFill>
                  <a:srgbClr val="22D3EE"/>
                </a:solidFill>
                <a:latin typeface="Apto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911096" y="1828800"/>
            <a:ext cx="1298448" cy="1024128"/>
          </a:xfrm>
          <a:prstGeom prst="roundRect">
            <a:avLst/>
          </a:prstGeom>
          <a:solidFill>
            <a:srgbClr val="0F172A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12264" y="1975104"/>
            <a:ext cx="896112" cy="2743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Apto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12264" y="2304288"/>
            <a:ext cx="896112" cy="42976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Aptos"/>
              </a:rPr>
              <a:t>Preprocess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91256" y="2231136"/>
            <a:ext cx="219456" cy="219456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1600" b="1">
                <a:solidFill>
                  <a:srgbClr val="22D3EE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19272" y="1828800"/>
            <a:ext cx="1298448" cy="1024128"/>
          </a:xfrm>
          <a:prstGeom prst="roundRect">
            <a:avLst/>
          </a:prstGeom>
          <a:solidFill>
            <a:srgbClr val="0F172A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0440" y="1975104"/>
            <a:ext cx="896112" cy="2743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0440" y="2304288"/>
            <a:ext cx="896112" cy="42976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Aptos"/>
              </a:rPr>
              <a:t>Origin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99432" y="2231136"/>
            <a:ext cx="219456" cy="219456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1600" b="1">
                <a:solidFill>
                  <a:srgbClr val="22D3EE"/>
                </a:solidFill>
                <a:latin typeface="Aptos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27448" y="1828800"/>
            <a:ext cx="1298448" cy="1024128"/>
          </a:xfrm>
          <a:prstGeom prst="roundRect">
            <a:avLst/>
          </a:prstGeom>
          <a:solidFill>
            <a:srgbClr val="0F172A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28616" y="1975104"/>
            <a:ext cx="896112" cy="2743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Apto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28616" y="2304288"/>
            <a:ext cx="896112" cy="42976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Aptos"/>
              </a:rPr>
              <a:t>Replay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07608" y="2231136"/>
            <a:ext cx="219456" cy="219456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1600" b="1">
                <a:solidFill>
                  <a:srgbClr val="22D3EE"/>
                </a:solidFill>
                <a:latin typeface="Aptos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35624" y="1828800"/>
            <a:ext cx="1298448" cy="1024128"/>
          </a:xfrm>
          <a:prstGeom prst="roundRect">
            <a:avLst/>
          </a:prstGeom>
          <a:solidFill>
            <a:srgbClr val="0F172A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36792" y="1975104"/>
            <a:ext cx="896112" cy="2743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Aptos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36792" y="2304288"/>
            <a:ext cx="896112" cy="42976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Aptos"/>
              </a:rPr>
              <a:t>Channel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15784" y="2231136"/>
            <a:ext cx="219456" cy="219456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1600" b="1">
                <a:solidFill>
                  <a:srgbClr val="22D3EE"/>
                </a:solidFill>
                <a:latin typeface="Aptos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543800" y="1828800"/>
            <a:ext cx="1298448" cy="1024128"/>
          </a:xfrm>
          <a:prstGeom prst="roundRect">
            <a:avLst/>
          </a:prstGeom>
          <a:solidFill>
            <a:srgbClr val="0F172A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44968" y="1975104"/>
            <a:ext cx="896112" cy="2743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Aptos"/>
              </a:rP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44968" y="2304288"/>
            <a:ext cx="896112" cy="42976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Aptos"/>
              </a:rPr>
              <a:t>Partial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23960" y="2231136"/>
            <a:ext cx="219456" cy="219456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1600" b="1">
                <a:solidFill>
                  <a:srgbClr val="22D3EE"/>
                </a:solidFill>
                <a:latin typeface="Aptos"/>
              </a:rP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951976" y="1828800"/>
            <a:ext cx="1298448" cy="1024128"/>
          </a:xfrm>
          <a:prstGeom prst="roundRect">
            <a:avLst/>
          </a:prstGeom>
          <a:solidFill>
            <a:srgbClr val="0F172A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53144" y="1975104"/>
            <a:ext cx="896112" cy="2743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Aptos"/>
              </a:rPr>
              <a:t>07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53144" y="2304288"/>
            <a:ext cx="896112" cy="42976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Aptos"/>
              </a:rPr>
              <a:t>Fusion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32136" y="2231136"/>
            <a:ext cx="219456" cy="219456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1600" b="1">
                <a:solidFill>
                  <a:srgbClr val="22D3EE"/>
                </a:solidFill>
                <a:latin typeface="Aptos"/>
              </a:rPr>
              <a:t>→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360152" y="1828800"/>
            <a:ext cx="1298448" cy="1024128"/>
          </a:xfrm>
          <a:prstGeom prst="roundRect">
            <a:avLst/>
          </a:prstGeom>
          <a:solidFill>
            <a:srgbClr val="0F172A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61320" y="1975104"/>
            <a:ext cx="896112" cy="2743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Aptos"/>
              </a:rPr>
              <a:t>08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61320" y="2304288"/>
            <a:ext cx="896112" cy="42976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Aptos"/>
              </a:rPr>
              <a:t>Report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22960" y="3886200"/>
            <a:ext cx="2560320" cy="914400"/>
          </a:xfrm>
          <a:prstGeom prst="roundRect">
            <a:avLst/>
          </a:prstGeom>
          <a:solidFill>
            <a:srgbClr val="0F172A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24128" y="4032504"/>
            <a:ext cx="2157984" cy="2743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Aptos"/>
              </a:rPr>
              <a:t>ORIGIN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24128" y="4361688"/>
            <a:ext cx="2157984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F1F5F9"/>
                </a:solidFill>
                <a:latin typeface="Aptos"/>
              </a:rPr>
              <a:t>Synthetic voice indicators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611880" y="3886200"/>
            <a:ext cx="2560320" cy="914400"/>
          </a:xfrm>
          <a:prstGeom prst="roundRect">
            <a:avLst/>
          </a:prstGeom>
          <a:solidFill>
            <a:srgbClr val="0F172A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813048" y="4032504"/>
            <a:ext cx="2157984" cy="2743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FBBF24"/>
                </a:solidFill>
                <a:latin typeface="Aptos"/>
              </a:rPr>
              <a:t>REPLAY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813048" y="4361688"/>
            <a:ext cx="2157984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F1F5F9"/>
                </a:solidFill>
                <a:latin typeface="Aptos"/>
              </a:rPr>
              <a:t>Rerecording evidence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400800" y="3886200"/>
            <a:ext cx="2560320" cy="914400"/>
          </a:xfrm>
          <a:prstGeom prst="roundRect">
            <a:avLst/>
          </a:prstGeom>
          <a:solidFill>
            <a:srgbClr val="0F172A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601968" y="4032504"/>
            <a:ext cx="2157984" cy="2743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A855F7"/>
                </a:solidFill>
                <a:latin typeface="Aptos"/>
              </a:rPr>
              <a:t>CHANNEL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01968" y="4361688"/>
            <a:ext cx="2157984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F1F5F9"/>
                </a:solidFill>
                <a:latin typeface="Aptos"/>
              </a:rPr>
              <a:t>Processing artifacts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189720" y="3886200"/>
            <a:ext cx="2560320" cy="914400"/>
          </a:xfrm>
          <a:prstGeom prst="roundRect">
            <a:avLst/>
          </a:prstGeom>
          <a:solidFill>
            <a:srgbClr val="0F172A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390888" y="4032504"/>
            <a:ext cx="2157984" cy="2743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34D399"/>
                </a:solidFill>
                <a:latin typeface="Aptos"/>
              </a:rPr>
              <a:t>PARTIAL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390888" y="4361688"/>
            <a:ext cx="2157984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F1F5F9"/>
                </a:solidFill>
                <a:latin typeface="Aptos"/>
              </a:rPr>
              <a:t>Suspicious moments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-365760"/>
            <a:ext cx="2560320" cy="256032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5029200"/>
            <a:ext cx="2560320" cy="256032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713232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Aptos"/>
              </a:rPr>
              <a:t>FASSD FINAL YEAR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9601200" cy="65836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2800" b="1">
                <a:solidFill>
                  <a:srgbClr val="F1F5F9"/>
                </a:solidFill>
                <a:latin typeface="Aptos"/>
              </a:rPr>
              <a:t>Final Multi-Axis Release 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243584"/>
            <a:ext cx="8778240" cy="4114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Aptos"/>
              </a:rPr>
              <a:t>Separate metrics prevent one weak axis from hiding inside one score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73952"/>
            <a:ext cx="5486400" cy="1828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ptos"/>
              </a:rPr>
              <a:t>Forensic Audio Source and Spoofing Detector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73952"/>
            <a:ext cx="548640" cy="1828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r"/>
            <a:r>
              <a:rPr sz="800" b="1">
                <a:solidFill>
                  <a:srgbClr val="22D3EE"/>
                </a:solidFill>
                <a:latin typeface="Aptos"/>
              </a:rPr>
              <a:t>13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40080" y="1508760"/>
          <a:ext cx="10972800" cy="3886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822960" y="5623560"/>
            <a:ext cx="1060704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1400" b="1">
                <a:solidFill>
                  <a:srgbClr val="FBBF24"/>
                </a:solidFill>
                <a:latin typeface="Aptos"/>
              </a:rPr>
              <a:t>Honest interpretation: origin/replay useful, mixer/channel weak recall, partial promising but still experimental.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-365760"/>
            <a:ext cx="2560320" cy="256032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5029200"/>
            <a:ext cx="2560320" cy="256032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713232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Aptos"/>
              </a:rPr>
              <a:t>FASSD FINAL YEAR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9601200" cy="65836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2800" b="1">
                <a:solidFill>
                  <a:srgbClr val="F1F5F9"/>
                </a:solidFill>
                <a:latin typeface="Aptos"/>
              </a:rPr>
              <a:t>Evidence Axis Logic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243584"/>
            <a:ext cx="8778240" cy="4114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Aptos"/>
              </a:rPr>
              <a:t>What each axis means in presentation Q&amp;A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73952"/>
            <a:ext cx="5486400" cy="1828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ptos"/>
              </a:rPr>
              <a:t>Forensic Audio Source and Spoofing Detector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73952"/>
            <a:ext cx="548640" cy="1828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r"/>
            <a:r>
              <a:rPr sz="800" b="1">
                <a:solidFill>
                  <a:srgbClr val="22D3EE"/>
                </a:solidFill>
                <a:latin typeface="Aptos"/>
              </a:rPr>
              <a:t>14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31520" y="1600200"/>
          <a:ext cx="107899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7480"/>
                <a:gridCol w="2697480"/>
                <a:gridCol w="2697480"/>
                <a:gridCol w="2697480"/>
              </a:tblGrid>
              <a:tr h="58521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2D3EE"/>
                          </a:solidFill>
                          <a:latin typeface="Aptos"/>
                        </a:rPr>
                        <a:t>Axis</a:t>
                      </a:r>
                    </a:p>
                  </a:txBody>
                  <a:tcPr marL="54864" marR="54864" anchor="ctr">
                    <a:solidFill>
                      <a:srgbClr val="141F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2D3EE"/>
                          </a:solidFill>
                          <a:latin typeface="Aptos"/>
                        </a:rPr>
                        <a:t>Threshold</a:t>
                      </a:r>
                    </a:p>
                  </a:txBody>
                  <a:tcPr marL="54864" marR="54864" anchor="ctr">
                    <a:solidFill>
                      <a:srgbClr val="141F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2D3EE"/>
                          </a:solidFill>
                          <a:latin typeface="Aptos"/>
                        </a:rPr>
                        <a:t>Meaning</a:t>
                      </a:r>
                    </a:p>
                  </a:txBody>
                  <a:tcPr marL="54864" marR="54864" anchor="ctr">
                    <a:solidFill>
                      <a:srgbClr val="141F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2D3EE"/>
                          </a:solidFill>
                          <a:latin typeface="Aptos"/>
                        </a:rPr>
                        <a:t>Important caveat</a:t>
                      </a:r>
                    </a:p>
                  </a:txBody>
                  <a:tcPr marL="54864" marR="54864" anchor="ctr">
                    <a:solidFill>
                      <a:srgbClr val="141F34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1F5F9"/>
                          </a:solidFill>
                          <a:latin typeface="Aptos"/>
                        </a:rPr>
                        <a:t>Origin</a:t>
                      </a:r>
                    </a:p>
                  </a:txBody>
                  <a:tcPr marL="54864" marR="54864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1F5F9"/>
                          </a:solidFill>
                          <a:latin typeface="Aptos"/>
                        </a:rPr>
                        <a:t>0.92</a:t>
                      </a:r>
                    </a:p>
                  </a:txBody>
                  <a:tcPr marL="54864" marR="54864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1F5F9"/>
                          </a:solidFill>
                          <a:latin typeface="Aptos"/>
                        </a:rPr>
                        <a:t>AI-origin indicators</a:t>
                      </a:r>
                    </a:p>
                  </a:txBody>
                  <a:tcPr marL="54864" marR="54864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1F5F9"/>
                          </a:solidFill>
                          <a:latin typeface="Aptos"/>
                        </a:rPr>
                        <a:t>Compression can mask cues</a:t>
                      </a:r>
                    </a:p>
                  </a:txBody>
                  <a:tcPr marL="54864" marR="54864" anchor="ctr">
                    <a:solidFill>
                      <a:srgbClr val="0F172A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1F5F9"/>
                          </a:solidFill>
                          <a:latin typeface="Aptos"/>
                        </a:rPr>
                        <a:t>Replay</a:t>
                      </a:r>
                    </a:p>
                  </a:txBody>
                  <a:tcPr marL="54864" marR="54864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1F5F9"/>
                          </a:solidFill>
                          <a:latin typeface="Aptos"/>
                        </a:rPr>
                        <a:t>0.65</a:t>
                      </a:r>
                    </a:p>
                  </a:txBody>
                  <a:tcPr marL="54864" marR="54864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1F5F9"/>
                          </a:solidFill>
                          <a:latin typeface="Aptos"/>
                        </a:rPr>
                        <a:t>Rerecording evidence</a:t>
                      </a:r>
                    </a:p>
                  </a:txBody>
                  <a:tcPr marL="54864" marR="54864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1F5F9"/>
                          </a:solidFill>
                          <a:latin typeface="Aptos"/>
                        </a:rPr>
                        <a:t>Does not mean AI</a:t>
                      </a:r>
                    </a:p>
                  </a:txBody>
                  <a:tcPr marL="54864" marR="54864" anchor="ctr">
                    <a:solidFill>
                      <a:srgbClr val="0F172A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1F5F9"/>
                          </a:solidFill>
                          <a:latin typeface="Aptos"/>
                        </a:rPr>
                        <a:t>Mixer/channel</a:t>
                      </a:r>
                    </a:p>
                  </a:txBody>
                  <a:tcPr marL="54864" marR="54864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1F5F9"/>
                          </a:solidFill>
                          <a:latin typeface="Aptos"/>
                        </a:rPr>
                        <a:t>0.75</a:t>
                      </a:r>
                    </a:p>
                  </a:txBody>
                  <a:tcPr marL="54864" marR="54864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1F5F9"/>
                          </a:solidFill>
                          <a:latin typeface="Aptos"/>
                        </a:rPr>
                        <a:t>Channel artifacts</a:t>
                      </a:r>
                    </a:p>
                  </a:txBody>
                  <a:tcPr marL="54864" marR="54864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1F5F9"/>
                          </a:solidFill>
                          <a:latin typeface="Aptos"/>
                        </a:rPr>
                        <a:t>Weak positive recall</a:t>
                      </a:r>
                    </a:p>
                  </a:txBody>
                  <a:tcPr marL="54864" marR="54864" anchor="ctr">
                    <a:solidFill>
                      <a:srgbClr val="0F172A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1F5F9"/>
                          </a:solidFill>
                          <a:latin typeface="Aptos"/>
                        </a:rPr>
                        <a:t>Partial</a:t>
                      </a:r>
                    </a:p>
                  </a:txBody>
                  <a:tcPr marL="54864" marR="54864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1F5F9"/>
                          </a:solidFill>
                          <a:latin typeface="Aptos"/>
                        </a:rPr>
                        <a:t>0.95</a:t>
                      </a:r>
                    </a:p>
                  </a:txBody>
                  <a:tcPr marL="54864" marR="54864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1F5F9"/>
                          </a:solidFill>
                          <a:latin typeface="Aptos"/>
                        </a:rPr>
                        <a:t>Candidate moments</a:t>
                      </a:r>
                    </a:p>
                  </a:txBody>
                  <a:tcPr marL="54864" marR="54864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1F5F9"/>
                          </a:solidFill>
                          <a:latin typeface="Aptos"/>
                        </a:rPr>
                        <a:t>Manual-review only</a:t>
                      </a:r>
                    </a:p>
                  </a:txBody>
                  <a:tcPr marL="54864" marR="54864" anchor="ctr"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1463040" y="4983480"/>
            <a:ext cx="9326880" cy="731520"/>
          </a:xfrm>
          <a:prstGeom prst="roundRect">
            <a:avLst/>
          </a:prstGeom>
          <a:solidFill>
            <a:srgbClr val="141F34"/>
          </a:solidFill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83080" y="5239512"/>
            <a:ext cx="8686800" cy="2743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2300" b="1">
                <a:solidFill>
                  <a:srgbClr val="F1F5F9"/>
                </a:solidFill>
                <a:latin typeface="Aptos"/>
              </a:rPr>
              <a:t>The system reports evidence indicators, not legal proof.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-365760"/>
            <a:ext cx="2560320" cy="256032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5029200"/>
            <a:ext cx="2560320" cy="256032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713232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Aptos"/>
              </a:rPr>
              <a:t>FASSD FINAL YEAR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9601200" cy="65836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2800" b="1">
                <a:solidFill>
                  <a:srgbClr val="F1F5F9"/>
                </a:solidFill>
                <a:latin typeface="Aptos"/>
              </a:rPr>
              <a:t>Fusion and Report Logic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243584"/>
            <a:ext cx="8778240" cy="4114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Aptos"/>
              </a:rPr>
              <a:t>Designed to avoid unsafe fake/real overclaiming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73952"/>
            <a:ext cx="5486400" cy="1828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ptos"/>
              </a:rPr>
              <a:t>Forensic Audio Source and Spoofing Detector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73952"/>
            <a:ext cx="548640" cy="1828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r"/>
            <a:r>
              <a:rPr sz="800" b="1">
                <a:solidFill>
                  <a:srgbClr val="22D3EE"/>
                </a:solidFill>
                <a:latin typeface="Aptos"/>
              </a:rPr>
              <a:t>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737360"/>
            <a:ext cx="5120640" cy="3108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48"/>
              </a:spcAft>
              <a:defRPr sz="1800">
                <a:solidFill>
                  <a:srgbClr val="F1F5F9"/>
                </a:solidFill>
                <a:latin typeface="Aptos"/>
              </a:defRPr>
            </a:pPr>
            <a:r>
              <a:t>Low / moderate / high evidence bands</a:t>
            </a:r>
          </a:p>
          <a:p>
            <a:pPr>
              <a:spcAft>
                <a:spcPts val="648"/>
              </a:spcAft>
              <a:defRPr sz="1800">
                <a:solidFill>
                  <a:srgbClr val="F1F5F9"/>
                </a:solidFill>
                <a:latin typeface="Aptos"/>
              </a:defRPr>
            </a:pPr>
            <a:r>
              <a:t>Manual review recommendation</a:t>
            </a:r>
          </a:p>
          <a:p>
            <a:pPr>
              <a:spcAft>
                <a:spcPts val="648"/>
              </a:spcAft>
              <a:defRPr sz="1800">
                <a:solidFill>
                  <a:srgbClr val="F1F5F9"/>
                </a:solidFill>
                <a:latin typeface="Aptos"/>
              </a:defRPr>
            </a:pPr>
            <a:r>
              <a:t>No conclusive authenticity certificate</a:t>
            </a:r>
          </a:p>
          <a:p>
            <a:pPr>
              <a:spcAft>
                <a:spcPts val="648"/>
              </a:spcAft>
              <a:defRPr sz="1800">
                <a:solidFill>
                  <a:srgbClr val="F1F5F9"/>
                </a:solidFill>
                <a:latin typeface="Aptos"/>
              </a:defRPr>
            </a:pPr>
            <a:r>
              <a:t>Segment timestamps for listening</a:t>
            </a:r>
          </a:p>
          <a:p>
            <a:pPr>
              <a:spcAft>
                <a:spcPts val="648"/>
              </a:spcAft>
              <a:defRPr sz="1800">
                <a:solidFill>
                  <a:srgbClr val="F1F5F9"/>
                </a:solidFill>
                <a:latin typeface="Aptos"/>
              </a:defRPr>
            </a:pPr>
            <a:r>
              <a:t>Plain-language report + technical export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965960"/>
            <a:ext cx="5029200" cy="2103120"/>
          </a:xfrm>
          <a:prstGeom prst="roundRect">
            <a:avLst/>
          </a:prstGeom>
          <a:solidFill>
            <a:srgbClr val="141F34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221992"/>
            <a:ext cx="4389120" cy="16459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2300" b="1">
                <a:solidFill>
                  <a:srgbClr val="F1F5F9"/>
                </a:solidFill>
                <a:latin typeface="Aptos"/>
              </a:rPr>
              <a:t>FASSD does not replace forensic experts; it helps them know where to look.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-365760"/>
            <a:ext cx="2560320" cy="256032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5029200"/>
            <a:ext cx="2560320" cy="256032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713232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Aptos"/>
              </a:rPr>
              <a:t>FASSD FINAL YEAR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9601200" cy="65836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2800" b="1">
                <a:solidFill>
                  <a:srgbClr val="F1F5F9"/>
                </a:solidFill>
                <a:latin typeface="Aptos"/>
              </a:rPr>
              <a:t>Literature Positioning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243584"/>
            <a:ext cx="8778240" cy="4114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Aptos"/>
              </a:rPr>
              <a:t>Our contribution is practical forensic reporting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73952"/>
            <a:ext cx="5486400" cy="1828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ptos"/>
              </a:rPr>
              <a:t>Forensic Audio Source and Spoofing Detector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73952"/>
            <a:ext cx="548640" cy="1828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r"/>
            <a:r>
              <a:rPr sz="800" b="1">
                <a:solidFill>
                  <a:srgbClr val="22D3EE"/>
                </a:solidFill>
                <a:latin typeface="Aptos"/>
              </a:rPr>
              <a:t>16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914400" y="1645920"/>
          <a:ext cx="1033272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66360"/>
                <a:gridCol w="5166360"/>
              </a:tblGrid>
              <a:tr h="5562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2D3EE"/>
                          </a:solidFill>
                          <a:latin typeface="Aptos"/>
                        </a:rPr>
                        <a:t>Common literature focus</a:t>
                      </a:r>
                    </a:p>
                  </a:txBody>
                  <a:tcPr marL="54864" marR="54864" anchor="ctr">
                    <a:solidFill>
                      <a:srgbClr val="141F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2D3EE"/>
                          </a:solidFill>
                          <a:latin typeface="Aptos"/>
                        </a:rPr>
                        <a:t>FASSD extension</a:t>
                      </a:r>
                    </a:p>
                  </a:txBody>
                  <a:tcPr marL="54864" marR="54864" anchor="ctr">
                    <a:solidFill>
                      <a:srgbClr val="141F34"/>
                    </a:solidFill>
                  </a:tcPr>
                </a:tc>
              </a:tr>
              <a:tr h="5562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1F5F9"/>
                          </a:solidFill>
                          <a:latin typeface="Aptos"/>
                        </a:rPr>
                        <a:t>Single spoof score</a:t>
                      </a:r>
                    </a:p>
                  </a:txBody>
                  <a:tcPr marL="54864" marR="54864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1F5F9"/>
                          </a:solidFill>
                          <a:latin typeface="Aptos"/>
                        </a:rPr>
                        <a:t>Four evidence axes</a:t>
                      </a:r>
                    </a:p>
                  </a:txBody>
                  <a:tcPr marL="54864" marR="54864" anchor="ctr">
                    <a:solidFill>
                      <a:srgbClr val="0F172A"/>
                    </a:solidFill>
                  </a:tcPr>
                </a:tc>
              </a:tr>
              <a:tr h="5562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1F5F9"/>
                          </a:solidFill>
                          <a:latin typeface="Aptos"/>
                        </a:rPr>
                        <a:t>Benchmark-only testing</a:t>
                      </a:r>
                    </a:p>
                  </a:txBody>
                  <a:tcPr marL="54864" marR="54864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1F5F9"/>
                          </a:solidFill>
                          <a:latin typeface="Aptos"/>
                        </a:rPr>
                        <a:t>Controlled + real-world case testing</a:t>
                      </a:r>
                    </a:p>
                  </a:txBody>
                  <a:tcPr marL="54864" marR="54864" anchor="ctr">
                    <a:solidFill>
                      <a:srgbClr val="0F172A"/>
                    </a:solidFill>
                  </a:tcPr>
                </a:tc>
              </a:tr>
              <a:tr h="5562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1F5F9"/>
                          </a:solidFill>
                          <a:latin typeface="Aptos"/>
                        </a:rPr>
                        <a:t>Model accuracy</a:t>
                      </a:r>
                    </a:p>
                  </a:txBody>
                  <a:tcPr marL="54864" marR="54864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1F5F9"/>
                          </a:solidFill>
                          <a:latin typeface="Aptos"/>
                        </a:rPr>
                        <a:t>Evidence explanation</a:t>
                      </a:r>
                    </a:p>
                  </a:txBody>
                  <a:tcPr marL="54864" marR="54864" anchor="ctr">
                    <a:solidFill>
                      <a:srgbClr val="0F172A"/>
                    </a:solidFill>
                  </a:tcPr>
                </a:tc>
              </a:tr>
              <a:tr h="5562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1F5F9"/>
                          </a:solidFill>
                          <a:latin typeface="Aptos"/>
                        </a:rPr>
                        <a:t>File-level classification</a:t>
                      </a:r>
                    </a:p>
                  </a:txBody>
                  <a:tcPr marL="54864" marR="54864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1F5F9"/>
                          </a:solidFill>
                          <a:latin typeface="Aptos"/>
                        </a:rPr>
                        <a:t>Segment candidates</a:t>
                      </a:r>
                    </a:p>
                  </a:txBody>
                  <a:tcPr marL="54864" marR="54864" anchor="ctr">
                    <a:solidFill>
                      <a:srgbClr val="0F172A"/>
                    </a:solidFill>
                  </a:tcPr>
                </a:tc>
              </a:tr>
              <a:tr h="5562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1F5F9"/>
                          </a:solidFill>
                          <a:latin typeface="Aptos"/>
                        </a:rPr>
                        <a:t>Research output</a:t>
                      </a:r>
                    </a:p>
                  </a:txBody>
                  <a:tcPr marL="54864" marR="54864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1F5F9"/>
                          </a:solidFill>
                          <a:latin typeface="Aptos"/>
                        </a:rPr>
                        <a:t>Deployed web application</a:t>
                      </a:r>
                    </a:p>
                  </a:txBody>
                  <a:tcPr marL="54864" marR="54864" anchor="ctr"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1097280" y="5349240"/>
            <a:ext cx="996696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1500" b="1">
                <a:solidFill>
                  <a:srgbClr val="FBBF24"/>
                </a:solidFill>
                <a:latin typeface="Aptos"/>
              </a:rPr>
              <a:t>Defense answer: better in evidence coverage and practical reporting, not universal benchmark superiority.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-365760"/>
            <a:ext cx="2560320" cy="256032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5029200"/>
            <a:ext cx="2560320" cy="256032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713232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Aptos"/>
              </a:rPr>
              <a:t>FASSD FINAL YEAR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9601200" cy="65836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2800" b="1">
                <a:solidFill>
                  <a:srgbClr val="F1F5F9"/>
                </a:solidFill>
                <a:latin typeface="Aptos"/>
              </a:rPr>
              <a:t>Public Web Deployment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243584"/>
            <a:ext cx="8778240" cy="4114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Aptos"/>
              </a:rPr>
              <a:t>A complete software product, not only notebooks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73952"/>
            <a:ext cx="5486400" cy="1828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ptos"/>
              </a:rPr>
              <a:t>Forensic Audio Source and Spoofing Detector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73952"/>
            <a:ext cx="548640" cy="1828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r"/>
            <a:r>
              <a:rPr sz="800" b="1">
                <a:solidFill>
                  <a:srgbClr val="22D3EE"/>
                </a:solidFill>
                <a:latin typeface="Aptos"/>
              </a:rPr>
              <a:t>17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737360"/>
            <a:ext cx="2051913" cy="1097280"/>
          </a:xfrm>
          <a:prstGeom prst="roundRect">
            <a:avLst/>
          </a:prstGeom>
          <a:solidFill>
            <a:srgbClr val="0F172A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883664"/>
            <a:ext cx="1649577" cy="2743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Apto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212848"/>
            <a:ext cx="1649577" cy="5029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Aptos"/>
              </a:rPr>
              <a:t>Next.js / Vercel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65145" y="2176272"/>
            <a:ext cx="219456" cy="219456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1600" b="1">
                <a:solidFill>
                  <a:srgbClr val="22D3EE"/>
                </a:solidFill>
                <a:latin typeface="Apto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93161" y="1737360"/>
            <a:ext cx="2051913" cy="1097280"/>
          </a:xfrm>
          <a:prstGeom prst="roundRect">
            <a:avLst/>
          </a:prstGeom>
          <a:solidFill>
            <a:srgbClr val="0F172A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94329" y="1883664"/>
            <a:ext cx="1649577" cy="2743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Apto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94329" y="2212848"/>
            <a:ext cx="1649577" cy="5029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Aptos"/>
              </a:rPr>
              <a:t>Firebase Auth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26787" y="2176272"/>
            <a:ext cx="219456" cy="219456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1600" b="1">
                <a:solidFill>
                  <a:srgbClr val="22D3EE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54803" y="1737360"/>
            <a:ext cx="2051913" cy="1097280"/>
          </a:xfrm>
          <a:prstGeom prst="roundRect">
            <a:avLst/>
          </a:prstGeom>
          <a:solidFill>
            <a:srgbClr val="0F172A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55971" y="1883664"/>
            <a:ext cx="1649577" cy="2743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55971" y="2212848"/>
            <a:ext cx="1649577" cy="5029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Aptos"/>
              </a:rPr>
              <a:t>FastAPI API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8428" y="2176272"/>
            <a:ext cx="219456" cy="219456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1600" b="1">
                <a:solidFill>
                  <a:srgbClr val="22D3EE"/>
                </a:solidFill>
                <a:latin typeface="Aptos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16444" y="1737360"/>
            <a:ext cx="2051913" cy="1097280"/>
          </a:xfrm>
          <a:prstGeom prst="roundRect">
            <a:avLst/>
          </a:prstGeom>
          <a:solidFill>
            <a:srgbClr val="0F172A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17612" y="1883664"/>
            <a:ext cx="1649577" cy="2743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Apto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17612" y="2212848"/>
            <a:ext cx="1649577" cy="5029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Aptos"/>
              </a:rPr>
              <a:t>Phase 9 Models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0070" y="2176272"/>
            <a:ext cx="219456" cy="219456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1600" b="1">
                <a:solidFill>
                  <a:srgbClr val="22D3EE"/>
                </a:solidFill>
                <a:latin typeface="Aptos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378086" y="1737360"/>
            <a:ext cx="2051913" cy="1097280"/>
          </a:xfrm>
          <a:prstGeom prst="roundRect">
            <a:avLst/>
          </a:prstGeom>
          <a:solidFill>
            <a:srgbClr val="0F172A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79254" y="1883664"/>
            <a:ext cx="1649577" cy="2743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Aptos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79254" y="2212848"/>
            <a:ext cx="1649577" cy="5029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Aptos"/>
              </a:rPr>
              <a:t>PDF/JSON Reports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4400" y="3566160"/>
            <a:ext cx="3200400" cy="914400"/>
          </a:xfrm>
          <a:prstGeom prst="roundRect">
            <a:avLst/>
          </a:prstGeom>
          <a:solidFill>
            <a:srgbClr val="0F172A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15568" y="3712464"/>
            <a:ext cx="2798064" cy="2743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3B82F6"/>
                </a:solidFill>
                <a:latin typeface="Aptos"/>
              </a:rPr>
              <a:t>FRONTEND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" y="4041648"/>
            <a:ext cx="2798064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F1F5F9"/>
                </a:solidFill>
                <a:latin typeface="Aptos"/>
              </a:rPr>
              <a:t>Dashboard, recorder, test clips, AI lab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480560" y="3566160"/>
            <a:ext cx="3200400" cy="914400"/>
          </a:xfrm>
          <a:prstGeom prst="roundRect">
            <a:avLst/>
          </a:prstGeom>
          <a:solidFill>
            <a:srgbClr val="0F172A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81728" y="3712464"/>
            <a:ext cx="2798064" cy="2743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34D399"/>
                </a:solidFill>
                <a:latin typeface="Aptos"/>
              </a:rPr>
              <a:t>BACKEND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81728" y="4041648"/>
            <a:ext cx="2798064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F1F5F9"/>
                </a:solidFill>
                <a:latin typeface="Aptos"/>
              </a:rPr>
              <a:t>Model inference + report generation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46720" y="3566160"/>
            <a:ext cx="3200400" cy="914400"/>
          </a:xfrm>
          <a:prstGeom prst="roundRect">
            <a:avLst/>
          </a:prstGeom>
          <a:solidFill>
            <a:srgbClr val="0F172A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47888" y="3712464"/>
            <a:ext cx="2798064" cy="2743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FBBF24"/>
                </a:solidFill>
                <a:latin typeface="Aptos"/>
              </a:rPr>
              <a:t>SECURITY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47888" y="4041648"/>
            <a:ext cx="2798064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F1F5F9"/>
                </a:solidFill>
                <a:latin typeface="Aptos"/>
              </a:rPr>
              <a:t>Auth-gated analysis + email verification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5166360"/>
            <a:ext cx="10515600" cy="2743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1700" b="1">
                <a:solidFill>
                  <a:srgbClr val="22D3EE"/>
                </a:solidFill>
                <a:latin typeface="Aptos"/>
              </a:rPr>
              <a:t>Live: https://www.deepfakedetection.dev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-365760"/>
            <a:ext cx="2560320" cy="256032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5029200"/>
            <a:ext cx="2560320" cy="256032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713232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Aptos"/>
              </a:rPr>
              <a:t>FASSD FINAL YEAR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9601200" cy="65836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2800" b="1">
                <a:solidFill>
                  <a:srgbClr val="F1F5F9"/>
                </a:solidFill>
                <a:latin typeface="Aptos"/>
              </a:rPr>
              <a:t>Final Interface Output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243584"/>
            <a:ext cx="8778240" cy="4114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Aptos"/>
              </a:rPr>
              <a:t>What the reviewer receives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73952"/>
            <a:ext cx="5486400" cy="1828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ptos"/>
              </a:rPr>
              <a:t>Forensic Audio Source and Spoofing Detector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73952"/>
            <a:ext cx="548640" cy="1828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r"/>
            <a:r>
              <a:rPr sz="800" b="1">
                <a:solidFill>
                  <a:srgbClr val="22D3EE"/>
                </a:solidFill>
                <a:latin typeface="Aptos"/>
              </a:rPr>
              <a:t>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920240"/>
            <a:ext cx="1737360" cy="1051560"/>
          </a:xfrm>
          <a:prstGeom prst="roundRect">
            <a:avLst/>
          </a:prstGeom>
          <a:solidFill>
            <a:srgbClr val="0F172A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2066544"/>
            <a:ext cx="1335024" cy="2743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34D399"/>
                </a:solidFill>
                <a:latin typeface="Apto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2395728"/>
            <a:ext cx="1335024" cy="4572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Aptos"/>
              </a:rPr>
              <a:t>Upload / record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13432" y="2336292"/>
            <a:ext cx="219456" cy="219456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1600" b="1">
                <a:solidFill>
                  <a:srgbClr val="34D399"/>
                </a:solidFill>
                <a:latin typeface="Apto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41448" y="1920240"/>
            <a:ext cx="1737360" cy="1051560"/>
          </a:xfrm>
          <a:prstGeom prst="roundRect">
            <a:avLst/>
          </a:prstGeom>
          <a:solidFill>
            <a:srgbClr val="0F172A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42616" y="2066544"/>
            <a:ext cx="1335024" cy="2743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34D399"/>
                </a:solidFill>
                <a:latin typeface="Apto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42616" y="2395728"/>
            <a:ext cx="1335024" cy="4572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Aptos"/>
              </a:rPr>
              <a:t>Analyze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0520" y="2336292"/>
            <a:ext cx="219456" cy="219456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1600" b="1">
                <a:solidFill>
                  <a:srgbClr val="34D399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88536" y="1920240"/>
            <a:ext cx="1737360" cy="1051560"/>
          </a:xfrm>
          <a:prstGeom prst="roundRect">
            <a:avLst/>
          </a:prstGeom>
          <a:solidFill>
            <a:srgbClr val="0F172A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9704" y="2066544"/>
            <a:ext cx="1335024" cy="2743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34D399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9704" y="2395728"/>
            <a:ext cx="1335024" cy="4572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Aptos"/>
              </a:rPr>
              <a:t>4 evidence cards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07608" y="2336292"/>
            <a:ext cx="219456" cy="219456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1600" b="1">
                <a:solidFill>
                  <a:srgbClr val="34D399"/>
                </a:solidFill>
                <a:latin typeface="Aptos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35624" y="1920240"/>
            <a:ext cx="1737360" cy="1051560"/>
          </a:xfrm>
          <a:prstGeom prst="roundRect">
            <a:avLst/>
          </a:prstGeom>
          <a:solidFill>
            <a:srgbClr val="0F172A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36792" y="2066544"/>
            <a:ext cx="1335024" cy="2743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34D399"/>
                </a:solidFill>
                <a:latin typeface="Apto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36792" y="2395728"/>
            <a:ext cx="1335024" cy="4572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Aptos"/>
              </a:rPr>
              <a:t>Review segments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54696" y="2336292"/>
            <a:ext cx="219456" cy="219456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1600" b="1">
                <a:solidFill>
                  <a:srgbClr val="34D399"/>
                </a:solidFill>
                <a:latin typeface="Aptos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82712" y="1920240"/>
            <a:ext cx="1737360" cy="1051560"/>
          </a:xfrm>
          <a:prstGeom prst="roundRect">
            <a:avLst/>
          </a:prstGeom>
          <a:solidFill>
            <a:srgbClr val="0F172A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83880" y="2066544"/>
            <a:ext cx="1335024" cy="2743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34D399"/>
                </a:solidFill>
                <a:latin typeface="Aptos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83880" y="2395728"/>
            <a:ext cx="1335024" cy="4572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Aptos"/>
              </a:rPr>
              <a:t>Safety wording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01784" y="2336292"/>
            <a:ext cx="219456" cy="219456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1600" b="1">
                <a:solidFill>
                  <a:srgbClr val="34D399"/>
                </a:solidFill>
                <a:latin typeface="Aptos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829800" y="1920240"/>
            <a:ext cx="1737360" cy="1051560"/>
          </a:xfrm>
          <a:prstGeom prst="roundRect">
            <a:avLst/>
          </a:prstGeom>
          <a:solidFill>
            <a:srgbClr val="0F172A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30968" y="2066544"/>
            <a:ext cx="1335024" cy="2743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34D399"/>
                </a:solidFill>
                <a:latin typeface="Aptos"/>
              </a:rP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30968" y="2395728"/>
            <a:ext cx="1335024" cy="4572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Aptos"/>
              </a:rPr>
              <a:t>Export report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3931920"/>
            <a:ext cx="98755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48"/>
              </a:spcAft>
              <a:defRPr sz="1800">
                <a:solidFill>
                  <a:srgbClr val="F1F5F9"/>
                </a:solidFill>
                <a:latin typeface="Aptos"/>
              </a:defRPr>
            </a:pPr>
            <a:r>
              <a:t>Readable headline</a:t>
            </a:r>
          </a:p>
          <a:p>
            <a:pPr>
              <a:spcAft>
                <a:spcPts val="648"/>
              </a:spcAft>
              <a:defRPr sz="1800">
                <a:solidFill>
                  <a:srgbClr val="F1F5F9"/>
                </a:solidFill>
                <a:latin typeface="Aptos"/>
              </a:defRPr>
            </a:pPr>
            <a:r>
              <a:t>Evidence band for each axis</a:t>
            </a:r>
          </a:p>
          <a:p>
            <a:pPr>
              <a:spcAft>
                <a:spcPts val="648"/>
              </a:spcAft>
              <a:defRPr sz="1800">
                <a:solidFill>
                  <a:srgbClr val="F1F5F9"/>
                </a:solidFill>
                <a:latin typeface="Aptos"/>
              </a:defRPr>
            </a:pPr>
            <a:r>
              <a:t>Highlighted timestamps</a:t>
            </a:r>
          </a:p>
          <a:p>
            <a:pPr>
              <a:spcAft>
                <a:spcPts val="648"/>
              </a:spcAft>
              <a:defRPr sz="1800">
                <a:solidFill>
                  <a:srgbClr val="F1F5F9"/>
                </a:solidFill>
                <a:latin typeface="Aptos"/>
              </a:defRPr>
            </a:pPr>
            <a:r>
              <a:t>Report-oriented explanation</a:t>
            </a:r>
          </a:p>
          <a:p>
            <a:pPr>
              <a:spcAft>
                <a:spcPts val="648"/>
              </a:spcAft>
              <a:defRPr sz="1800">
                <a:solidFill>
                  <a:srgbClr val="F1F5F9"/>
                </a:solidFill>
                <a:latin typeface="Aptos"/>
              </a:defRPr>
            </a:pPr>
            <a:r>
              <a:t>Manual-review recommendation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-365760"/>
            <a:ext cx="2560320" cy="256032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5029200"/>
            <a:ext cx="2560320" cy="256032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713232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Aptos"/>
              </a:rPr>
              <a:t>FASSD FINAL YEAR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9601200" cy="65836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2800" b="1">
                <a:solidFill>
                  <a:srgbClr val="F1F5F9"/>
                </a:solidFill>
                <a:latin typeface="Aptos"/>
              </a:rPr>
              <a:t>Real-World Case Studies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243584"/>
            <a:ext cx="8778240" cy="4114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Aptos"/>
              </a:rPr>
              <a:t>Public incidents tested beyond controlled benchmark datasets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73952"/>
            <a:ext cx="5486400" cy="1828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ptos"/>
              </a:rPr>
              <a:t>Forensic Audio Source and Spoofing Detector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73952"/>
            <a:ext cx="548640" cy="1828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r"/>
            <a:r>
              <a:rPr sz="800" b="1">
                <a:solidFill>
                  <a:srgbClr val="22D3EE"/>
                </a:solidFill>
                <a:latin typeface="Aptos"/>
              </a:rPr>
              <a:t>19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1828800"/>
            <a:ext cx="4572000" cy="1097280"/>
          </a:xfrm>
          <a:prstGeom prst="roundRect">
            <a:avLst/>
          </a:prstGeom>
          <a:solidFill>
            <a:srgbClr val="0F172A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1975104"/>
            <a:ext cx="4169664" cy="2743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FBBF24"/>
                </a:solidFill>
                <a:latin typeface="Aptos"/>
              </a:rPr>
              <a:t>CASE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2304288"/>
            <a:ext cx="4169664" cy="5029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2000" b="1">
                <a:solidFill>
                  <a:srgbClr val="F1F5F9"/>
                </a:solidFill>
                <a:latin typeface="Aptos"/>
              </a:rPr>
              <a:t>Biden New Hampshire robocall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1828800"/>
            <a:ext cx="4572000" cy="1097280"/>
          </a:xfrm>
          <a:prstGeom prst="roundRect">
            <a:avLst/>
          </a:prstGeom>
          <a:solidFill>
            <a:srgbClr val="0F172A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84848" y="1975104"/>
            <a:ext cx="4169664" cy="2743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Aptos"/>
              </a:rPr>
              <a:t>CASE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84848" y="2304288"/>
            <a:ext cx="4169664" cy="5029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800" b="1">
                <a:solidFill>
                  <a:srgbClr val="F1F5F9"/>
                </a:solidFill>
                <a:latin typeface="Aptos"/>
              </a:rPr>
              <a:t>Baltimore / Pikesville principal audio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3886200"/>
            <a:ext cx="987552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48"/>
              </a:spcAft>
              <a:defRPr sz="1800">
                <a:solidFill>
                  <a:srgbClr val="F1F5F9"/>
                </a:solidFill>
                <a:latin typeface="Aptos"/>
              </a:defRPr>
            </a:pPr>
            <a:r>
              <a:t>Purpose: compare public forensic discussion with FASSD evidence-axis output.</a:t>
            </a:r>
          </a:p>
          <a:p>
            <a:pPr>
              <a:spcAft>
                <a:spcPts val="648"/>
              </a:spcAft>
              <a:defRPr sz="1800">
                <a:solidFill>
                  <a:srgbClr val="F1F5F9"/>
                </a:solidFill>
                <a:latin typeface="Aptos"/>
              </a:defRPr>
            </a:pPr>
            <a:r>
              <a:t>Safety: experimental evidence only, not legal proof.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-365760"/>
            <a:ext cx="2560320" cy="256032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5029200"/>
            <a:ext cx="2560320" cy="256032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713232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Aptos"/>
              </a:rPr>
              <a:t>FASSD FINAL YEAR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9601200" cy="65836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2800" b="1">
                <a:solidFill>
                  <a:srgbClr val="F1F5F9"/>
                </a:solidFill>
                <a:latin typeface="Aptos"/>
              </a:rPr>
              <a:t>Case Study 1: Biden Robocall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243584"/>
            <a:ext cx="8778240" cy="4114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Aptos"/>
              </a:rPr>
              <a:t>A difficult phone-channel/public-media copy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73952"/>
            <a:ext cx="5486400" cy="1828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ptos"/>
              </a:rPr>
              <a:t>Forensic Audio Source and Spoofing Detector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73952"/>
            <a:ext cx="548640" cy="1828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r"/>
            <a:r>
              <a:rPr sz="800" b="1">
                <a:solidFill>
                  <a:srgbClr val="22D3EE"/>
                </a:solidFill>
                <a:latin typeface="Aptos"/>
              </a:rPr>
              <a:t>20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731520" y="1600200"/>
          <a:ext cx="5486400" cy="3291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6583680" y="1783080"/>
            <a:ext cx="4389120" cy="822960"/>
          </a:xfrm>
          <a:prstGeom prst="roundRect">
            <a:avLst/>
          </a:prstGeom>
          <a:solidFill>
            <a:srgbClr val="0F172A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84848" y="1929384"/>
            <a:ext cx="3986784" cy="2743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FBBF24"/>
                </a:solidFill>
                <a:latin typeface="Aptos"/>
              </a:rPr>
              <a:t>AGREEMENT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84848" y="2258568"/>
            <a:ext cx="3986784" cy="2286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2000" b="1">
                <a:solidFill>
                  <a:srgbClr val="F1F5F9"/>
                </a:solidFill>
                <a:latin typeface="Aptos"/>
              </a:rPr>
              <a:t>Mixed / partial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2971800"/>
            <a:ext cx="438912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48"/>
              </a:spcAft>
              <a:defRPr sz="1500">
                <a:solidFill>
                  <a:srgbClr val="F1F5F9"/>
                </a:solidFill>
                <a:latin typeface="Aptos"/>
              </a:defRPr>
            </a:pPr>
            <a:r>
              <a:t>External finding: AI-generated robocall.</a:t>
            </a:r>
          </a:p>
          <a:p>
            <a:pPr>
              <a:spcAft>
                <a:spcPts val="648"/>
              </a:spcAft>
              <a:defRPr sz="1500">
                <a:solidFill>
                  <a:srgbClr val="F1F5F9"/>
                </a:solidFill>
                <a:latin typeface="Aptos"/>
              </a:defRPr>
            </a:pPr>
            <a:r>
              <a:t>FASSD: borderline origin, high replay/channel.</a:t>
            </a:r>
          </a:p>
          <a:p>
            <a:pPr>
              <a:spcAft>
                <a:spcPts val="648"/>
              </a:spcAft>
              <a:defRPr sz="1500">
                <a:solidFill>
                  <a:srgbClr val="F1F5F9"/>
                </a:solidFill>
                <a:latin typeface="Aptos"/>
              </a:defRPr>
            </a:pPr>
            <a:r>
              <a:t>Interpretation: public copy likely dominated by phone/media artifacts.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-365760"/>
            <a:ext cx="2560320" cy="256032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5029200"/>
            <a:ext cx="2560320" cy="256032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713232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Aptos"/>
              </a:rPr>
              <a:t>FASSD FINAL YEAR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9601200" cy="65836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2800" b="1">
                <a:solidFill>
                  <a:srgbClr val="F1F5F9"/>
                </a:solidFill>
                <a:latin typeface="Aptos"/>
              </a:rPr>
              <a:t>Case Study 2: Pikesville Principal Audio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243584"/>
            <a:ext cx="8778240" cy="4114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Aptos"/>
              </a:rPr>
              <a:t>A stronger match with public forensic discussion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73952"/>
            <a:ext cx="5486400" cy="1828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ptos"/>
              </a:rPr>
              <a:t>Forensic Audio Source and Spoofing Detector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73952"/>
            <a:ext cx="548640" cy="1828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r"/>
            <a:r>
              <a:rPr sz="800" b="1">
                <a:solidFill>
                  <a:srgbClr val="22D3EE"/>
                </a:solidFill>
                <a:latin typeface="Aptos"/>
              </a:rPr>
              <a:t>21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731520" y="1600200"/>
          <a:ext cx="5486400" cy="3291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6583680" y="1783080"/>
            <a:ext cx="4389120" cy="822960"/>
          </a:xfrm>
          <a:prstGeom prst="roundRect">
            <a:avLst/>
          </a:prstGeom>
          <a:solidFill>
            <a:srgbClr val="0F172A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84848" y="1929384"/>
            <a:ext cx="3986784" cy="2743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34D399"/>
                </a:solidFill>
                <a:latin typeface="Aptos"/>
              </a:rPr>
              <a:t>AGREEMENT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84848" y="2258568"/>
            <a:ext cx="3986784" cy="2286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2000" b="1">
                <a:solidFill>
                  <a:srgbClr val="F1F5F9"/>
                </a:solidFill>
                <a:latin typeface="Aptos"/>
              </a:rPr>
              <a:t>Broad agreement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2971800"/>
            <a:ext cx="438912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48"/>
              </a:spcAft>
              <a:defRPr sz="1500">
                <a:solidFill>
                  <a:srgbClr val="F1F5F9"/>
                </a:solidFill>
                <a:latin typeface="Aptos"/>
              </a:defRPr>
            </a:pPr>
            <a:r>
              <a:t>External discussion: AI-generated or manipulated.</a:t>
            </a:r>
          </a:p>
          <a:p>
            <a:pPr>
              <a:spcAft>
                <a:spcPts val="648"/>
              </a:spcAft>
              <a:defRPr sz="1500">
                <a:solidFill>
                  <a:srgbClr val="F1F5F9"/>
                </a:solidFill>
                <a:latin typeface="Aptos"/>
              </a:defRPr>
            </a:pPr>
            <a:r>
              <a:t>FASSD: elevated origin + partial candidates.</a:t>
            </a:r>
          </a:p>
          <a:p>
            <a:pPr>
              <a:spcAft>
                <a:spcPts val="648"/>
              </a:spcAft>
              <a:defRPr sz="1500">
                <a:solidFill>
                  <a:srgbClr val="F1F5F9"/>
                </a:solidFill>
                <a:latin typeface="Aptos"/>
              </a:defRPr>
            </a:pPr>
            <a:r>
              <a:t>Replay/channel low for this public copy.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-365760"/>
            <a:ext cx="2560320" cy="256032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5029200"/>
            <a:ext cx="2560320" cy="256032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713232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Aptos"/>
              </a:rPr>
              <a:t>FASSD FINAL YEAR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9601200" cy="65836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2800" b="1">
                <a:solidFill>
                  <a:srgbClr val="F1F5F9"/>
                </a:solidFill>
                <a:latin typeface="Aptos"/>
              </a:rPr>
              <a:t>Case Study Comparison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243584"/>
            <a:ext cx="8778240" cy="4114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Aptos"/>
              </a:rPr>
              <a:t>Multi-axis reporting explains why results differ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73952"/>
            <a:ext cx="5486400" cy="1828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ptos"/>
              </a:rPr>
              <a:t>Forensic Audio Source and Spoofing Detector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73952"/>
            <a:ext cx="548640" cy="1828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r"/>
            <a:r>
              <a:rPr sz="800" b="1">
                <a:solidFill>
                  <a:srgbClr val="22D3EE"/>
                </a:solidFill>
                <a:latin typeface="Aptos"/>
              </a:rPr>
              <a:t>22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" y="1645920"/>
          <a:ext cx="10972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6096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2D3EE"/>
                          </a:solidFill>
                          <a:latin typeface="Aptos"/>
                        </a:rPr>
                        <a:t>Case</a:t>
                      </a:r>
                    </a:p>
                  </a:txBody>
                  <a:tcPr marL="54864" marR="54864" anchor="ctr">
                    <a:solidFill>
                      <a:srgbClr val="141F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2D3EE"/>
                          </a:solidFill>
                          <a:latin typeface="Aptos"/>
                        </a:rPr>
                        <a:t>External finding</a:t>
                      </a:r>
                    </a:p>
                  </a:txBody>
                  <a:tcPr marL="54864" marR="54864" anchor="ctr">
                    <a:solidFill>
                      <a:srgbClr val="141F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2D3EE"/>
                          </a:solidFill>
                          <a:latin typeface="Aptos"/>
                        </a:rPr>
                        <a:t>FASSD output</a:t>
                      </a:r>
                    </a:p>
                  </a:txBody>
                  <a:tcPr marL="54864" marR="54864" anchor="ctr">
                    <a:solidFill>
                      <a:srgbClr val="141F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2D3EE"/>
                          </a:solidFill>
                          <a:latin typeface="Aptos"/>
                        </a:rPr>
                        <a:t>Agreement</a:t>
                      </a:r>
                    </a:p>
                  </a:txBody>
                  <a:tcPr marL="54864" marR="54864" anchor="ctr">
                    <a:solidFill>
                      <a:srgbClr val="141F34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1F5F9"/>
                          </a:solidFill>
                          <a:latin typeface="Aptos"/>
                        </a:rPr>
                        <a:t>Biden NH Robocall</a:t>
                      </a:r>
                    </a:p>
                  </a:txBody>
                  <a:tcPr marL="54864" marR="54864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1F5F9"/>
                          </a:solidFill>
                          <a:latin typeface="Aptos"/>
                        </a:rPr>
                        <a:t>AI-generated robocall</a:t>
                      </a:r>
                    </a:p>
                  </a:txBody>
                  <a:tcPr marL="54864" marR="54864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1F5F9"/>
                          </a:solidFill>
                          <a:latin typeface="Aptos"/>
                        </a:rPr>
                        <a:t>Borderline origin + high channel</a:t>
                      </a:r>
                    </a:p>
                  </a:txBody>
                  <a:tcPr marL="54864" marR="54864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1F5F9"/>
                          </a:solidFill>
                          <a:latin typeface="Aptos"/>
                        </a:rPr>
                        <a:t>Mixed</a:t>
                      </a:r>
                    </a:p>
                  </a:txBody>
                  <a:tcPr marL="54864" marR="54864" anchor="ctr">
                    <a:solidFill>
                      <a:srgbClr val="0F172A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1F5F9"/>
                          </a:solidFill>
                          <a:latin typeface="Aptos"/>
                        </a:rPr>
                        <a:t>Pikesville Principal</a:t>
                      </a:r>
                    </a:p>
                  </a:txBody>
                  <a:tcPr marL="54864" marR="54864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1F5F9"/>
                          </a:solidFill>
                          <a:latin typeface="Aptos"/>
                        </a:rPr>
                        <a:t>AI-generated / manipulated</a:t>
                      </a:r>
                    </a:p>
                  </a:txBody>
                  <a:tcPr marL="54864" marR="54864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1F5F9"/>
                          </a:solidFill>
                          <a:latin typeface="Aptos"/>
                        </a:rPr>
                        <a:t>High origin + partial candidates</a:t>
                      </a:r>
                    </a:p>
                  </a:txBody>
                  <a:tcPr marL="54864" marR="54864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1F5F9"/>
                          </a:solidFill>
                          <a:latin typeface="Aptos"/>
                        </a:rPr>
                        <a:t>Broad</a:t>
                      </a:r>
                    </a:p>
                  </a:txBody>
                  <a:tcPr marL="54864" marR="54864" anchor="ctr"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914400" y="4023360"/>
            <a:ext cx="98755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48"/>
              </a:spcAft>
              <a:defRPr sz="1800">
                <a:solidFill>
                  <a:srgbClr val="F1F5F9"/>
                </a:solidFill>
                <a:latin typeface="Aptos"/>
              </a:defRPr>
            </a:pPr>
            <a:r>
              <a:t>Public copies can lose or distort forensic traces.</a:t>
            </a:r>
          </a:p>
          <a:p>
            <a:pPr>
              <a:spcAft>
                <a:spcPts val="648"/>
              </a:spcAft>
              <a:defRPr sz="1800">
                <a:solidFill>
                  <a:srgbClr val="F1F5F9"/>
                </a:solidFill>
                <a:latin typeface="Aptos"/>
              </a:defRPr>
            </a:pPr>
            <a:r>
              <a:t>Evidence axes explain inconclusive outputs instead of hiding them.</a:t>
            </a:r>
          </a:p>
          <a:p>
            <a:pPr>
              <a:spcAft>
                <a:spcPts val="648"/>
              </a:spcAft>
              <a:defRPr sz="1800">
                <a:solidFill>
                  <a:srgbClr val="F1F5F9"/>
                </a:solidFill>
                <a:latin typeface="Aptos"/>
              </a:defRPr>
            </a:pPr>
            <a:r>
              <a:t>Case studies make the demo stronger than benchmark-only evaluation.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-365760"/>
            <a:ext cx="2560320" cy="256032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5029200"/>
            <a:ext cx="2560320" cy="256032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713232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Aptos"/>
              </a:rPr>
              <a:t>FASSD FINAL YEAR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9601200" cy="65836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2800" b="1">
                <a:solidFill>
                  <a:srgbClr val="F1F5F9"/>
                </a:solidFill>
                <a:latin typeface="Aptos"/>
              </a:rPr>
              <a:t>Why Firestore NoSQL?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243584"/>
            <a:ext cx="8778240" cy="4114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Aptos"/>
              </a:rPr>
              <a:t>Simple user history, not heavy ML storage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73952"/>
            <a:ext cx="5486400" cy="1828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ptos"/>
              </a:rPr>
              <a:t>Forensic Audio Source and Spoofing Detector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73952"/>
            <a:ext cx="548640" cy="1828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r"/>
            <a:r>
              <a:rPr sz="800" b="1">
                <a:solidFill>
                  <a:srgbClr val="22D3EE"/>
                </a:solidFill>
                <a:latin typeface="Aptos"/>
              </a:rPr>
              <a:t>23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914400" y="1600200"/>
          <a:ext cx="103327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66360"/>
                <a:gridCol w="5166360"/>
              </a:tblGrid>
              <a:tr h="5334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2D3EE"/>
                          </a:solidFill>
                          <a:latin typeface="Aptos"/>
                        </a:rPr>
                        <a:t>Reason</a:t>
                      </a:r>
                    </a:p>
                  </a:txBody>
                  <a:tcPr marL="54864" marR="54864" anchor="ctr">
                    <a:solidFill>
                      <a:srgbClr val="141F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2D3EE"/>
                          </a:solidFill>
                          <a:latin typeface="Aptos"/>
                        </a:rPr>
                        <a:t>Explanation</a:t>
                      </a:r>
                    </a:p>
                  </a:txBody>
                  <a:tcPr marL="54864" marR="54864" anchor="ctr">
                    <a:solidFill>
                      <a:srgbClr val="141F34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1F5F9"/>
                          </a:solidFill>
                          <a:latin typeface="Aptos"/>
                        </a:rPr>
                        <a:t>Firebase Auth integration</a:t>
                      </a:r>
                    </a:p>
                  </a:txBody>
                  <a:tcPr marL="54864" marR="54864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1F5F9"/>
                          </a:solidFill>
                          <a:latin typeface="Aptos"/>
                        </a:rPr>
                        <a:t>Direct connection with user accounts</a:t>
                      </a:r>
                    </a:p>
                  </a:txBody>
                  <a:tcPr marL="54864" marR="54864" anchor="ctr">
                    <a:solidFill>
                      <a:srgbClr val="0F172A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1F5F9"/>
                          </a:solidFill>
                          <a:latin typeface="Aptos"/>
                        </a:rPr>
                        <a:t>Flexible schema</a:t>
                      </a:r>
                    </a:p>
                  </a:txBody>
                  <a:tcPr marL="54864" marR="54864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1F5F9"/>
                          </a:solidFill>
                          <a:latin typeface="Aptos"/>
                        </a:rPr>
                        <a:t>Report fields changed during development</a:t>
                      </a:r>
                    </a:p>
                  </a:txBody>
                  <a:tcPr marL="54864" marR="54864" anchor="ctr">
                    <a:solidFill>
                      <a:srgbClr val="0F172A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1F5F9"/>
                          </a:solidFill>
                          <a:latin typeface="Aptos"/>
                        </a:rPr>
                        <a:t>Simple history</a:t>
                      </a:r>
                    </a:p>
                  </a:txBody>
                  <a:tcPr marL="54864" marR="54864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1F5F9"/>
                          </a:solidFill>
                          <a:latin typeface="Aptos"/>
                        </a:rPr>
                        <a:t>Each analysis stored as one document</a:t>
                      </a:r>
                    </a:p>
                  </a:txBody>
                  <a:tcPr marL="54864" marR="54864" anchor="ctr">
                    <a:solidFill>
                      <a:srgbClr val="0F172A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1F5F9"/>
                          </a:solidFill>
                          <a:latin typeface="Aptos"/>
                        </a:rPr>
                        <a:t>Fast deployment</a:t>
                      </a:r>
                    </a:p>
                  </a:txBody>
                  <a:tcPr marL="54864" marR="54864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1F5F9"/>
                          </a:solidFill>
                          <a:latin typeface="Aptos"/>
                        </a:rPr>
                        <a:t>No separate SQL server needed</a:t>
                      </a:r>
                    </a:p>
                  </a:txBody>
                  <a:tcPr marL="54864" marR="54864" anchor="ctr">
                    <a:solidFill>
                      <a:srgbClr val="0F172A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1F5F9"/>
                          </a:solidFill>
                          <a:latin typeface="Aptos"/>
                        </a:rPr>
                        <a:t>ML separation</a:t>
                      </a:r>
                    </a:p>
                  </a:txBody>
                  <a:tcPr marL="54864" marR="54864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1F5F9"/>
                          </a:solidFill>
                          <a:latin typeface="Aptos"/>
                        </a:rPr>
                        <a:t>FastAPI handles inference</a:t>
                      </a:r>
                    </a:p>
                  </a:txBody>
                  <a:tcPr marL="54864" marR="54864" anchor="ctr"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914400" y="5257800"/>
            <a:ext cx="1033272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1500" b="1">
                <a:solidFill>
                  <a:srgbClr val="FBBF24"/>
                </a:solidFill>
                <a:latin typeface="Aptos"/>
              </a:rPr>
              <a:t>Clarification: Firestore stores web history, not the full ML inference pipeline.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-365760"/>
            <a:ext cx="2560320" cy="256032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5029200"/>
            <a:ext cx="2560320" cy="256032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713232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Aptos"/>
              </a:rPr>
              <a:t>FASSD FINAL YEAR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9601200" cy="65836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2800" b="1">
                <a:solidFill>
                  <a:srgbClr val="F1F5F9"/>
                </a:solidFill>
                <a:latin typeface="Aptos"/>
              </a:rPr>
              <a:t>Limitations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243584"/>
            <a:ext cx="8778240" cy="4114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Aptos"/>
              </a:rPr>
              <a:t>Honesty strengthens the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73952"/>
            <a:ext cx="5486400" cy="1828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ptos"/>
              </a:rPr>
              <a:t>Forensic Audio Source and Spoofing Detector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73952"/>
            <a:ext cx="548640" cy="1828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r"/>
            <a:r>
              <a:rPr sz="800" b="1">
                <a:solidFill>
                  <a:srgbClr val="22D3EE"/>
                </a:solidFill>
                <a:latin typeface="Aptos"/>
              </a:rPr>
              <a:t>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645920"/>
            <a:ext cx="5669280" cy="3383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48"/>
              </a:spcAft>
              <a:defRPr sz="1800">
                <a:solidFill>
                  <a:srgbClr val="F1F5F9"/>
                </a:solidFill>
                <a:latin typeface="Aptos"/>
              </a:defRPr>
            </a:pPr>
            <a:r>
              <a:t>Not court-ready</a:t>
            </a:r>
          </a:p>
          <a:p>
            <a:pPr>
              <a:spcAft>
                <a:spcPts val="648"/>
              </a:spcAft>
              <a:defRPr sz="1800">
                <a:solidFill>
                  <a:srgbClr val="F1F5F9"/>
                </a:solidFill>
                <a:latin typeface="Aptos"/>
              </a:defRPr>
            </a:pPr>
            <a:r>
              <a:t>Manual review required</a:t>
            </a:r>
          </a:p>
          <a:p>
            <a:pPr>
              <a:spcAft>
                <a:spcPts val="648"/>
              </a:spcAft>
              <a:defRPr sz="1800">
                <a:solidFill>
                  <a:srgbClr val="F1F5F9"/>
                </a:solidFill>
                <a:latin typeface="Aptos"/>
              </a:defRPr>
            </a:pPr>
            <a:r>
              <a:t>Mixer/channel recall is weak</a:t>
            </a:r>
          </a:p>
          <a:p>
            <a:pPr>
              <a:spcAft>
                <a:spcPts val="648"/>
              </a:spcAft>
              <a:defRPr sz="1800">
                <a:solidFill>
                  <a:srgbClr val="F1F5F9"/>
                </a:solidFill>
                <a:latin typeface="Aptos"/>
              </a:defRPr>
            </a:pPr>
            <a:r>
              <a:t>WhatsApp/phone compression can hide origin cues</a:t>
            </a:r>
          </a:p>
          <a:p>
            <a:pPr>
              <a:spcAft>
                <a:spcPts val="648"/>
              </a:spcAft>
              <a:defRPr sz="1800">
                <a:solidFill>
                  <a:srgbClr val="F1F5F9"/>
                </a:solidFill>
                <a:latin typeface="Aptos"/>
              </a:defRPr>
            </a:pPr>
            <a:r>
              <a:t>Partial fabrication is experimental</a:t>
            </a:r>
          </a:p>
          <a:p>
            <a:pPr>
              <a:spcAft>
                <a:spcPts val="648"/>
              </a:spcAft>
              <a:defRPr sz="1800">
                <a:solidFill>
                  <a:srgbClr val="F1F5F9"/>
                </a:solidFill>
                <a:latin typeface="Aptos"/>
              </a:defRPr>
            </a:pPr>
            <a:r>
              <a:t>Public copies may lose forensic traces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0" y="2011680"/>
            <a:ext cx="4480560" cy="2011680"/>
          </a:xfrm>
          <a:prstGeom prst="roundRect">
            <a:avLst/>
          </a:prstGeom>
          <a:solidFill>
            <a:srgbClr val="141F34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95160" y="2267712"/>
            <a:ext cx="3840480" cy="15544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2300" b="1">
                <a:solidFill>
                  <a:srgbClr val="F1F5F9"/>
                </a:solidFill>
                <a:latin typeface="Aptos"/>
              </a:rPr>
              <a:t>FASSD is a research prototype and decision-support tool, not a final forensic authority.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-365760"/>
            <a:ext cx="2560320" cy="256032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5029200"/>
            <a:ext cx="2560320" cy="256032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713232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Aptos"/>
              </a:rPr>
              <a:t>FASSD FINAL YEAR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9601200" cy="65836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2800" b="1">
                <a:solidFill>
                  <a:srgbClr val="F1F5F9"/>
                </a:solidFill>
                <a:latin typeface="Aptos"/>
              </a:rPr>
              <a:t>Future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243584"/>
            <a:ext cx="8778240" cy="4114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Aptos"/>
              </a:rPr>
              <a:t>Path from FYP prototype to stronger forensic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73952"/>
            <a:ext cx="5486400" cy="1828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ptos"/>
              </a:rPr>
              <a:t>Forensic Audio Source and Spoofing Detector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73952"/>
            <a:ext cx="548640" cy="1828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r"/>
            <a:r>
              <a:rPr sz="800" b="1">
                <a:solidFill>
                  <a:srgbClr val="22D3EE"/>
                </a:solidFill>
                <a:latin typeface="Aptos"/>
              </a:rPr>
              <a:t>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645920"/>
            <a:ext cx="987552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48"/>
              </a:spcAft>
              <a:defRPr sz="1900">
                <a:solidFill>
                  <a:srgbClr val="F1F5F9"/>
                </a:solidFill>
                <a:latin typeface="Aptos"/>
              </a:defRPr>
            </a:pPr>
            <a:r>
              <a:t>Larger real-world forensic dataset</a:t>
            </a:r>
          </a:p>
          <a:p>
            <a:pPr>
              <a:spcAft>
                <a:spcPts val="648"/>
              </a:spcAft>
              <a:defRPr sz="1900">
                <a:solidFill>
                  <a:srgbClr val="F1F5F9"/>
                </a:solidFill>
                <a:latin typeface="Aptos"/>
              </a:defRPr>
            </a:pPr>
            <a:r>
              <a:t>Better WhatsApp and phone-channel robustness</a:t>
            </a:r>
          </a:p>
          <a:p>
            <a:pPr>
              <a:spcAft>
                <a:spcPts val="648"/>
              </a:spcAft>
              <a:defRPr sz="1900">
                <a:solidFill>
                  <a:srgbClr val="F1F5F9"/>
                </a:solidFill>
                <a:latin typeface="Aptos"/>
              </a:defRPr>
            </a:pPr>
            <a:r>
              <a:t>Improved mixer/channel model</a:t>
            </a:r>
          </a:p>
          <a:p>
            <a:pPr>
              <a:spcAft>
                <a:spcPts val="648"/>
              </a:spcAft>
              <a:defRPr sz="1900">
                <a:solidFill>
                  <a:srgbClr val="F1F5F9"/>
                </a:solidFill>
                <a:latin typeface="Aptos"/>
              </a:defRPr>
            </a:pPr>
            <a:r>
              <a:t>Stronger partial localization</a:t>
            </a:r>
          </a:p>
          <a:p>
            <a:pPr>
              <a:spcAft>
                <a:spcPts val="648"/>
              </a:spcAft>
              <a:defRPr sz="1900">
                <a:solidFill>
                  <a:srgbClr val="F1F5F9"/>
                </a:solidFill>
                <a:latin typeface="Aptos"/>
              </a:defRPr>
            </a:pPr>
            <a:r>
              <a:t>Expert forensic validation</a:t>
            </a:r>
          </a:p>
          <a:p>
            <a:pPr>
              <a:spcAft>
                <a:spcPts val="648"/>
              </a:spcAft>
              <a:defRPr sz="1900">
                <a:solidFill>
                  <a:srgbClr val="F1F5F9"/>
                </a:solidFill>
                <a:latin typeface="Aptos"/>
              </a:defRPr>
            </a:pPr>
            <a:r>
              <a:t>Chain-of-custody case management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5029200"/>
            <a:ext cx="9326880" cy="731520"/>
          </a:xfrm>
          <a:prstGeom prst="roundRect">
            <a:avLst/>
          </a:prstGeom>
          <a:solidFill>
            <a:srgbClr val="141F34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91640" y="5285232"/>
            <a:ext cx="8686800" cy="2743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2300" b="1">
                <a:solidFill>
                  <a:srgbClr val="F1F5F9"/>
                </a:solidFill>
                <a:latin typeface="Aptos"/>
              </a:rPr>
              <a:t>First improvement priority: mixer/channel axis and compression robustness.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-365760"/>
            <a:ext cx="2560320" cy="256032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5029200"/>
            <a:ext cx="2560320" cy="256032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713232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Aptos"/>
              </a:rPr>
              <a:t>FASSD FINAL YEAR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9601200" cy="65836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2800" b="1">
                <a:solidFill>
                  <a:srgbClr val="F1F5F9"/>
                </a:solidFill>
                <a:latin typeface="Aptos"/>
              </a:rPr>
              <a:t>Final Contributions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243584"/>
            <a:ext cx="8778240" cy="4114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Aptos"/>
              </a:rPr>
              <a:t>What FASSD adds as a complete FYP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73952"/>
            <a:ext cx="5486400" cy="1828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ptos"/>
              </a:rPr>
              <a:t>Forensic Audio Source and Spoofing Detector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73952"/>
            <a:ext cx="548640" cy="1828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r"/>
            <a:r>
              <a:rPr sz="800" b="1">
                <a:solidFill>
                  <a:srgbClr val="22D3EE"/>
                </a:solidFill>
                <a:latin typeface="Aptos"/>
              </a:rPr>
              <a:t>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508760"/>
            <a:ext cx="585216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48"/>
              </a:spcAft>
              <a:defRPr sz="1600">
                <a:solidFill>
                  <a:srgbClr val="F1F5F9"/>
                </a:solidFill>
                <a:latin typeface="Aptos"/>
              </a:defRPr>
            </a:pPr>
            <a:r>
              <a:t>Complete audio deepfake detection pipeline</a:t>
            </a:r>
          </a:p>
          <a:p>
            <a:pPr>
              <a:spcAft>
                <a:spcPts val="648"/>
              </a:spcAft>
              <a:defRPr sz="1600">
                <a:solidFill>
                  <a:srgbClr val="F1F5F9"/>
                </a:solidFill>
                <a:latin typeface="Aptos"/>
              </a:defRPr>
            </a:pPr>
            <a:r>
              <a:t>Large unified dataset preparation</a:t>
            </a:r>
          </a:p>
          <a:p>
            <a:pPr>
              <a:spcAft>
                <a:spcPts val="648"/>
              </a:spcAft>
              <a:defRPr sz="1600">
                <a:solidFill>
                  <a:srgbClr val="F1F5F9"/>
                </a:solidFill>
                <a:latin typeface="Aptos"/>
              </a:defRPr>
            </a:pPr>
            <a:r>
              <a:t>Multiple model experiments and documented failures</a:t>
            </a:r>
          </a:p>
          <a:p>
            <a:pPr>
              <a:spcAft>
                <a:spcPts val="648"/>
              </a:spcAft>
              <a:defRPr sz="1600">
                <a:solidFill>
                  <a:srgbClr val="F1F5F9"/>
                </a:solidFill>
                <a:latin typeface="Aptos"/>
              </a:defRPr>
            </a:pPr>
            <a:r>
              <a:t>Controlled forensic testing</a:t>
            </a:r>
          </a:p>
          <a:p>
            <a:pPr>
              <a:spcAft>
                <a:spcPts val="648"/>
              </a:spcAft>
              <a:defRPr sz="1600">
                <a:solidFill>
                  <a:srgbClr val="F1F5F9"/>
                </a:solidFill>
                <a:latin typeface="Aptos"/>
              </a:defRPr>
            </a:pPr>
            <a:r>
              <a:t>Final multi-axis evidence architecture</a:t>
            </a:r>
          </a:p>
          <a:p>
            <a:pPr>
              <a:spcAft>
                <a:spcPts val="648"/>
              </a:spcAft>
              <a:defRPr sz="1600">
                <a:solidFill>
                  <a:srgbClr val="F1F5F9"/>
                </a:solidFill>
                <a:latin typeface="Aptos"/>
              </a:defRPr>
            </a:pPr>
            <a:r>
              <a:t>Evidence-band reporting system</a:t>
            </a:r>
          </a:p>
          <a:p>
            <a:pPr>
              <a:spcAft>
                <a:spcPts val="648"/>
              </a:spcAft>
              <a:defRPr sz="1600">
                <a:solidFill>
                  <a:srgbClr val="F1F5F9"/>
                </a:solidFill>
                <a:latin typeface="Aptos"/>
              </a:defRPr>
            </a:pPr>
            <a:r>
              <a:t>Public deployed web application</a:t>
            </a:r>
          </a:p>
          <a:p>
            <a:pPr>
              <a:spcAft>
                <a:spcPts val="648"/>
              </a:spcAft>
              <a:defRPr sz="1600">
                <a:solidFill>
                  <a:srgbClr val="F1F5F9"/>
                </a:solidFill>
                <a:latin typeface="Aptos"/>
              </a:defRPr>
            </a:pPr>
            <a:r>
              <a:t>Real-world case study evaluation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12280" y="1965960"/>
            <a:ext cx="4389120" cy="2194560"/>
          </a:xfrm>
          <a:prstGeom prst="roundRect">
            <a:avLst/>
          </a:prstGeom>
          <a:solidFill>
            <a:srgbClr val="141F34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0" y="2221992"/>
            <a:ext cx="3749040" cy="173736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2300" b="1">
                <a:solidFill>
                  <a:srgbClr val="F1F5F9"/>
                </a:solidFill>
                <a:latin typeface="Aptos"/>
              </a:rPr>
              <a:t>Biggest contribution: moving from binary detection to multi-axis forensic evidence reporting.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-365760"/>
            <a:ext cx="2560320" cy="256032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5029200"/>
            <a:ext cx="2560320" cy="256032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713232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Aptos"/>
              </a:rPr>
              <a:t>FASSD FINAL YEAR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9601200" cy="65836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2800" b="1">
                <a:solidFill>
                  <a:srgbClr val="F1F5F9"/>
                </a:solidFill>
                <a:latin typeface="Aptos"/>
              </a:rPr>
              <a:t>Conclusion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243584"/>
            <a:ext cx="8778240" cy="4114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Aptos"/>
              </a:rPr>
              <a:t>A complete ML + software engineering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73952"/>
            <a:ext cx="5486400" cy="1828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ptos"/>
              </a:rPr>
              <a:t>Forensic Audio Source and Spoofing Detector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73952"/>
            <a:ext cx="548640" cy="1828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r"/>
            <a:r>
              <a:rPr sz="800" b="1">
                <a:solidFill>
                  <a:srgbClr val="22D3EE"/>
                </a:solidFill>
                <a:latin typeface="Aptos"/>
              </a:rPr>
              <a:t>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645920"/>
            <a:ext cx="996696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48"/>
              </a:spcAft>
              <a:defRPr sz="1900">
                <a:solidFill>
                  <a:srgbClr val="F1F5F9"/>
                </a:solidFill>
                <a:latin typeface="Aptos"/>
              </a:defRPr>
            </a:pPr>
            <a:r>
              <a:t>Achieved official FYP objectives</a:t>
            </a:r>
          </a:p>
          <a:p>
            <a:pPr>
              <a:spcAft>
                <a:spcPts val="648"/>
              </a:spcAft>
              <a:defRPr sz="1900">
                <a:solidFill>
                  <a:srgbClr val="F1F5F9"/>
                </a:solidFill>
                <a:latin typeface="Aptos"/>
              </a:defRPr>
            </a:pPr>
            <a:r>
              <a:t>Extended into deployed forensic decision-support</a:t>
            </a:r>
          </a:p>
          <a:p>
            <a:pPr>
              <a:spcAft>
                <a:spcPts val="648"/>
              </a:spcAft>
              <a:defRPr sz="1900">
                <a:solidFill>
                  <a:srgbClr val="F1F5F9"/>
                </a:solidFill>
                <a:latin typeface="Aptos"/>
              </a:defRPr>
            </a:pPr>
            <a:r>
              <a:t>Analyzes four evidence axes</a:t>
            </a:r>
          </a:p>
          <a:p>
            <a:pPr>
              <a:spcAft>
                <a:spcPts val="648"/>
              </a:spcAft>
              <a:defRPr sz="1900">
                <a:solidFill>
                  <a:srgbClr val="F1F5F9"/>
                </a:solidFill>
                <a:latin typeface="Aptos"/>
              </a:defRPr>
            </a:pPr>
            <a:r>
              <a:t>Provides readable reports and segment highlights</a:t>
            </a:r>
          </a:p>
          <a:p>
            <a:pPr>
              <a:spcAft>
                <a:spcPts val="648"/>
              </a:spcAft>
              <a:defRPr sz="1900">
                <a:solidFill>
                  <a:srgbClr val="F1F5F9"/>
                </a:solidFill>
                <a:latin typeface="Aptos"/>
              </a:defRPr>
            </a:pPr>
            <a:r>
              <a:t>Avoids unsafe fake/real overclaiming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80160" y="4709160"/>
            <a:ext cx="9601200" cy="822960"/>
          </a:xfrm>
          <a:prstGeom prst="roundRect">
            <a:avLst/>
          </a:prstGeom>
          <a:solidFill>
            <a:srgbClr val="141F34"/>
          </a:solidFill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00200" y="4965192"/>
            <a:ext cx="8961120" cy="36576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2300" b="1">
                <a:solidFill>
                  <a:srgbClr val="F1F5F9"/>
                </a:solidFill>
                <a:latin typeface="Aptos"/>
              </a:rPr>
              <a:t>FASSD does not replace forensic experts; it helps them know where to look.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-365760"/>
            <a:ext cx="2560320" cy="256032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5029200"/>
            <a:ext cx="2560320" cy="256032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188720"/>
            <a:ext cx="10515600" cy="7315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5000" b="1">
                <a:solidFill>
                  <a:srgbClr val="F1F5F9"/>
                </a:solidFill>
                <a:latin typeface="Aptos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57400"/>
            <a:ext cx="10515600" cy="4114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2800" b="1">
                <a:solidFill>
                  <a:srgbClr val="22D3EE"/>
                </a:solidFill>
                <a:latin typeface="Aptos"/>
              </a:rPr>
              <a:t>Questions?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0" y="3657600"/>
            <a:ext cx="4114800" cy="822960"/>
          </a:xfrm>
          <a:prstGeom prst="roundRect">
            <a:avLst/>
          </a:prstGeom>
          <a:solidFill>
            <a:srgbClr val="0F172A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29968" y="3803904"/>
            <a:ext cx="3712464" cy="2743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Aptos"/>
              </a:rPr>
              <a:t>LIVE WEBSITE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29968" y="4133088"/>
            <a:ext cx="3712464" cy="2286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F1F5F9"/>
                </a:solidFill>
                <a:latin typeface="Aptos"/>
              </a:rPr>
              <a:t>https://www.deepfakedetection.dev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3657600"/>
            <a:ext cx="4114800" cy="822960"/>
          </a:xfrm>
          <a:prstGeom prst="roundRect">
            <a:avLst/>
          </a:prstGeom>
          <a:solidFill>
            <a:srgbClr val="0F172A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0528" y="3803904"/>
            <a:ext cx="3712464" cy="2743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34D399"/>
                </a:solidFill>
                <a:latin typeface="Aptos"/>
              </a:rPr>
              <a:t>REPOSITORIES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0528" y="4133088"/>
            <a:ext cx="3712464" cy="2286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200" b="1">
                <a:solidFill>
                  <a:srgbClr val="F1F5F9"/>
                </a:solidFill>
                <a:latin typeface="Aptos"/>
              </a:rPr>
              <a:t>github.com/RanaAreeb/FASSD
github.com/MHS-4ever/FYP_FASSD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73952"/>
            <a:ext cx="5486400" cy="1828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ptos"/>
              </a:rPr>
              <a:t>Forensic Audio Source and Spoofing Detector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73952"/>
            <a:ext cx="548640" cy="1828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r"/>
            <a:r>
              <a:rPr sz="800" b="1">
                <a:solidFill>
                  <a:srgbClr val="22D3EE"/>
                </a:solidFill>
                <a:latin typeface="Aptos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-365760"/>
            <a:ext cx="2560320" cy="256032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5029200"/>
            <a:ext cx="2560320" cy="256032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713232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Aptos"/>
              </a:rPr>
              <a:t>FASSD FINAL YEAR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9601200" cy="65836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2800" b="1">
                <a:solidFill>
                  <a:srgbClr val="F1F5F9"/>
                </a:solidFill>
                <a:latin typeface="Aptos"/>
              </a:rPr>
              <a:t>Backup Viva Questions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243584"/>
            <a:ext cx="8778240" cy="4114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Aptos"/>
              </a:rPr>
              <a:t>High-risk questions and compact answers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73952"/>
            <a:ext cx="5486400" cy="1828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ptos"/>
              </a:rPr>
              <a:t>Forensic Audio Source and Spoofing Detector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73952"/>
            <a:ext cx="548640" cy="1828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r"/>
            <a:r>
              <a:rPr sz="800" b="1">
                <a:solidFill>
                  <a:srgbClr val="22D3EE"/>
                </a:solidFill>
                <a:latin typeface="Aptos"/>
              </a:rPr>
              <a:t>29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94360" y="1508760"/>
          <a:ext cx="1097280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6705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2D3EE"/>
                          </a:solidFill>
                          <a:latin typeface="Aptos"/>
                        </a:rPr>
                        <a:t>Question</a:t>
                      </a:r>
                    </a:p>
                  </a:txBody>
                  <a:tcPr marL="54864" marR="54864" anchor="ctr">
                    <a:solidFill>
                      <a:srgbClr val="141F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2D3EE"/>
                          </a:solidFill>
                          <a:latin typeface="Aptos"/>
                        </a:rPr>
                        <a:t>Defense answer</a:t>
                      </a:r>
                    </a:p>
                  </a:txBody>
                  <a:tcPr marL="54864" marR="54864" anchor="ctr">
                    <a:solidFill>
                      <a:srgbClr val="141F34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1F5F9"/>
                          </a:solidFill>
                          <a:latin typeface="Aptos"/>
                        </a:rPr>
                        <a:t>Why not one model?</a:t>
                      </a:r>
                    </a:p>
                  </a:txBody>
                  <a:tcPr marL="54864" marR="54864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1F5F9"/>
                          </a:solidFill>
                          <a:latin typeface="Aptos"/>
                        </a:rPr>
                        <a:t>Different manipulations leave different traces.</a:t>
                      </a:r>
                    </a:p>
                  </a:txBody>
                  <a:tcPr marL="54864" marR="54864" anchor="ctr">
                    <a:solidFill>
                      <a:srgbClr val="0F172A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1F5F9"/>
                          </a:solidFill>
                          <a:latin typeface="Aptos"/>
                        </a:rPr>
                        <a:t>Why reject ResNet?</a:t>
                      </a:r>
                    </a:p>
                  </a:txBody>
                  <a:tcPr marL="54864" marR="54864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1F5F9"/>
                          </a:solidFill>
                          <a:latin typeface="Aptos"/>
                        </a:rPr>
                        <a:t>Great benchmark EER, weak real-world generalization.</a:t>
                      </a:r>
                    </a:p>
                  </a:txBody>
                  <a:tcPr marL="54864" marR="54864" anchor="ctr">
                    <a:solidFill>
                      <a:srgbClr val="0F172A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1F5F9"/>
                          </a:solidFill>
                          <a:latin typeface="Aptos"/>
                        </a:rPr>
                        <a:t>Why reject AASIST?</a:t>
                      </a:r>
                    </a:p>
                  </a:txBody>
                  <a:tcPr marL="54864" marR="54864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1F5F9"/>
                          </a:solidFill>
                          <a:latin typeface="Aptos"/>
                        </a:rPr>
                        <a:t>22/23 clean human false alarms in controlled test.</a:t>
                      </a:r>
                    </a:p>
                  </a:txBody>
                  <a:tcPr marL="54864" marR="54864" anchor="ctr">
                    <a:solidFill>
                      <a:srgbClr val="0F172A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1F5F9"/>
                          </a:solidFill>
                          <a:latin typeface="Aptos"/>
                        </a:rPr>
                        <a:t>Can FASSD prove fake?</a:t>
                      </a:r>
                    </a:p>
                  </a:txBody>
                  <a:tcPr marL="54864" marR="54864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1F5F9"/>
                          </a:solidFill>
                          <a:latin typeface="Aptos"/>
                        </a:rPr>
                        <a:t>No. It provides decision-support evidence only.</a:t>
                      </a:r>
                    </a:p>
                  </a:txBody>
                  <a:tcPr marL="54864" marR="54864" anchor="ctr">
                    <a:solidFill>
                      <a:srgbClr val="0F172A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1F5F9"/>
                          </a:solidFill>
                          <a:latin typeface="Aptos"/>
                        </a:rPr>
                        <a:t>Biggest limitation?</a:t>
                      </a:r>
                    </a:p>
                  </a:txBody>
                  <a:tcPr marL="54864" marR="54864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1F5F9"/>
                          </a:solidFill>
                          <a:latin typeface="Aptos"/>
                        </a:rPr>
                        <a:t>Mixer/channel recall and compression robustness.</a:t>
                      </a:r>
                    </a:p>
                  </a:txBody>
                  <a:tcPr marL="54864" marR="54864" anchor="ctr"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-365760"/>
            <a:ext cx="2560320" cy="256032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5029200"/>
            <a:ext cx="2560320" cy="256032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713232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Aptos"/>
              </a:rPr>
              <a:t>FASSD FINAL YEAR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9601200" cy="65836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2800" b="1">
                <a:solidFill>
                  <a:srgbClr val="F1F5F9"/>
                </a:solidFill>
                <a:latin typeface="Aptos"/>
              </a:rPr>
              <a:t>Backup Viva Questions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243584"/>
            <a:ext cx="8778240" cy="4114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Aptos"/>
              </a:rPr>
              <a:t>More defense-ready answers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73952"/>
            <a:ext cx="5486400" cy="1828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ptos"/>
              </a:rPr>
              <a:t>Forensic Audio Source and Spoofing Detector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73952"/>
            <a:ext cx="548640" cy="1828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r"/>
            <a:r>
              <a:rPr sz="800" b="1">
                <a:solidFill>
                  <a:srgbClr val="22D3EE"/>
                </a:solidFill>
                <a:latin typeface="Aptos"/>
              </a:rPr>
              <a:t>30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94360" y="1508760"/>
          <a:ext cx="1097280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6705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2D3EE"/>
                          </a:solidFill>
                          <a:latin typeface="Aptos"/>
                        </a:rPr>
                        <a:t>Question</a:t>
                      </a:r>
                    </a:p>
                  </a:txBody>
                  <a:tcPr marL="54864" marR="54864" anchor="ctr">
                    <a:solidFill>
                      <a:srgbClr val="141F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2D3EE"/>
                          </a:solidFill>
                          <a:latin typeface="Aptos"/>
                        </a:rPr>
                        <a:t>Defense answer</a:t>
                      </a:r>
                    </a:p>
                  </a:txBody>
                  <a:tcPr marL="54864" marR="54864" anchor="ctr">
                    <a:solidFill>
                      <a:srgbClr val="141F34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1F5F9"/>
                          </a:solidFill>
                          <a:latin typeface="Aptos"/>
                        </a:rPr>
                        <a:t>Replay vs AI-origin?</a:t>
                      </a:r>
                    </a:p>
                  </a:txBody>
                  <a:tcPr marL="54864" marR="54864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1F5F9"/>
                          </a:solidFill>
                          <a:latin typeface="Aptos"/>
                        </a:rPr>
                        <a:t>Replay is recording-chain; AI-origin is voice source.</a:t>
                      </a:r>
                    </a:p>
                  </a:txBody>
                  <a:tcPr marL="54864" marR="54864" anchor="ctr">
                    <a:solidFill>
                      <a:srgbClr val="0F172A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1F5F9"/>
                          </a:solidFill>
                          <a:latin typeface="Aptos"/>
                        </a:rPr>
                        <a:t>Why evidence bands?</a:t>
                      </a:r>
                    </a:p>
                  </a:txBody>
                  <a:tcPr marL="54864" marR="54864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1F5F9"/>
                          </a:solidFill>
                          <a:latin typeface="Aptos"/>
                        </a:rPr>
                        <a:t>Safer and clearer than raw confidence scores.</a:t>
                      </a:r>
                    </a:p>
                  </a:txBody>
                  <a:tcPr marL="54864" marR="54864" anchor="ctr">
                    <a:solidFill>
                      <a:srgbClr val="0F172A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1F5F9"/>
                          </a:solidFill>
                          <a:latin typeface="Aptos"/>
                        </a:rPr>
                        <a:t>Better than literature?</a:t>
                      </a:r>
                    </a:p>
                  </a:txBody>
                  <a:tcPr marL="54864" marR="54864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1F5F9"/>
                          </a:solidFill>
                          <a:latin typeface="Aptos"/>
                        </a:rPr>
                        <a:t>Stronger practical reporting; no universal superiority claim.</a:t>
                      </a:r>
                    </a:p>
                  </a:txBody>
                  <a:tcPr marL="54864" marR="54864" anchor="ctr">
                    <a:solidFill>
                      <a:srgbClr val="0F172A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1F5F9"/>
                          </a:solidFill>
                          <a:latin typeface="Aptos"/>
                        </a:rPr>
                        <a:t>Why mixed Biden result?</a:t>
                      </a:r>
                    </a:p>
                  </a:txBody>
                  <a:tcPr marL="54864" marR="54864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1F5F9"/>
                          </a:solidFill>
                          <a:latin typeface="Aptos"/>
                        </a:rPr>
                        <a:t>Phone/media channel artifacts masked origin cues.</a:t>
                      </a:r>
                    </a:p>
                  </a:txBody>
                  <a:tcPr marL="54864" marR="54864" anchor="ctr">
                    <a:solidFill>
                      <a:srgbClr val="0F172A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1F5F9"/>
                          </a:solidFill>
                          <a:latin typeface="Aptos"/>
                        </a:rPr>
                        <a:t>Why manual review?</a:t>
                      </a:r>
                    </a:p>
                  </a:txBody>
                  <a:tcPr marL="54864" marR="54864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1F5F9"/>
                          </a:solidFill>
                          <a:latin typeface="Aptos"/>
                        </a:rPr>
                        <a:t>Audio forensics is high-risk; automated models can fail.</a:t>
                      </a:r>
                    </a:p>
                  </a:txBody>
                  <a:tcPr marL="54864" marR="54864" anchor="ctr"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