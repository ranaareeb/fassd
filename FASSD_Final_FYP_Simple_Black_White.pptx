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00000"/>
                </a:solidFill>
                <a:latin typeface="Arial"/>
              </a:rPr>
              <a:t>FASSD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00000"/>
                </a:solidFill>
                <a:latin typeface="Arial"/>
              </a:rPr>
              <a:t>Forensic Acoustics for Synthetic Speech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00000"/>
                </a:solidFill>
                <a:latin typeface="Arial"/>
              </a:rPr>
              <a:t>Final Year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49039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00000"/>
                </a:solidFill>
                <a:latin typeface="Arial"/>
              </a:rPr>
              <a:t>Team Members:
Rana M. Areeb
M. Hasnain Siddique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92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00000"/>
                </a:solidFill>
                <a:latin typeface="Arial"/>
              </a:rPr>
              <a:t>Supervisor: Sir Faran Mehmood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05050"/>
                </a:solidFill>
                <a:latin typeface="Arial"/>
              </a:rPr>
              <a:t>https://www.deepfakedetection.dev/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0505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Opening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Why We Started This Project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At the start, our project goal was simple:</a:t>
            </a:r>
          </a:p>
          <a:p>
            <a:pPr>
              <a:spcAft>
                <a:spcPts val="500"/>
              </a:spcAft>
              <a:defRPr sz="1900" b="1">
                <a:solidFill>
                  <a:srgbClr val="000000"/>
                </a:solidFill>
                <a:latin typeface="Arial"/>
              </a:defRPr>
            </a:pPr>
            <a:r>
              <a:t>Detect AI-generated speech using machine learning.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But during development, we found that real-world audio is not simple.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Real-world audio may be: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AI-generated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Human but replayed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Compressed through phone or WhatsApp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Mixed through another channel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Partially edited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Uploaded through social media or YouTube</a:t>
            </a:r>
          </a:p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Main Realization</a:t>
            </a:r>
          </a:p>
          <a:p>
            <a:pPr>
              <a:spcAft>
                <a:spcPts val="500"/>
              </a:spcAft>
              <a:defRPr sz="1900" b="1">
                <a:solidFill>
                  <a:srgbClr val="000000"/>
                </a:solidFill>
                <a:latin typeface="Arial"/>
              </a:defRPr>
            </a:pPr>
            <a:r>
              <a:t>A single fake/real detector is not enough for forensic audio review.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0505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Problem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Modern AI voice cloning can create realistic speech, but detecting it is difficult because real audio is affected by: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Noise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Compression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Replay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Broadcast chains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Speaker-to-device recording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Partial editing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Most deepfake detectors give one score, but forensic review needs explanation.</a:t>
            </a:r>
          </a:p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Final Problem Statement</a:t>
            </a:r>
          </a:p>
          <a:p>
            <a:pPr>
              <a:spcAft>
                <a:spcPts val="500"/>
              </a:spcAft>
              <a:defRPr sz="1900" b="1">
                <a:solidFill>
                  <a:srgbClr val="000000"/>
                </a:solidFill>
                <a:latin typeface="Arial"/>
              </a:defRPr>
            </a:pPr>
            <a:r>
              <a:t>How can we detect and explain suspicious forensic evidence in audio instead of only giving a binary fake/real label?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05050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Project Aim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Aim of FASSD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To design, evaluate, and deploy an experimental forensic audio system that analyzes uploaded speech recordings and reports evidence indicators for: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1. AI-origin evidence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2. Replay or rerecording evidence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3. Mixer/channel processing evidence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4. Partial fabrication or edited segment evidence</a:t>
            </a:r>
          </a:p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Key Shift</a:t>
            </a:r>
          </a:p>
          <a:p>
            <a:pPr>
              <a:spcAft>
                <a:spcPts val="500"/>
              </a:spcAft>
              <a:defRPr sz="1900" b="1">
                <a:solidFill>
                  <a:srgbClr val="000000"/>
                </a:solidFill>
                <a:latin typeface="Arial"/>
              </a:defRPr>
            </a:pPr>
            <a:r>
              <a:t>From: “Is this fake or real?”</a:t>
            </a:r>
          </a:p>
          <a:p>
            <a:pPr>
              <a:spcAft>
                <a:spcPts val="500"/>
              </a:spcAft>
              <a:defRPr sz="1900" b="1">
                <a:solidFill>
                  <a:srgbClr val="000000"/>
                </a:solidFill>
                <a:latin typeface="Arial"/>
              </a:defRPr>
            </a:pPr>
            <a:r>
              <a:t>To: “What evidence exists in this audio?”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0505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Official and Extended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Official Approved Objectives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Build a deepfake audio detection system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Train machine learning models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Use audio features such as LFCC and log-mel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Evaluate using EER, accuracy, AUC, and confusion matrix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Deliver a working software tool</a:t>
            </a:r>
          </a:p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Extended Objectives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Move from single detector to multi-axis forensic evidence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Add partial fabrication analysis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Generate readable evidence reports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Deploy a public web application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Test real-world public case studies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05050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Development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Iterative and Incremental Development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FASSD followed an iterative and incremental model.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We repeated this cycle: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Build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↓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Evaluate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↓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Find failure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↓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Improve method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↓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Test again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↓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Freeze release</a:t>
            </a:r>
          </a:p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Why This Method?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Requirements changed after testing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Some models performed well on paper but failed in real-world cases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Each phase produced a working output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Final design was based on evidence from experiments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05050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Full Project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How the System Evolved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1. Baseline CNN/LCNN model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2. ResNet model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3. Environmental feature classifier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4. HybridResNetEnvironmental model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5. AASIST experiment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6. Controlled forensic testing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7. Multi-axis evidence architecture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8. Phase 9 FastAPI backend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9. Public web deployment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10. Real-world case studies</a:t>
            </a:r>
          </a:p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Main Story</a:t>
            </a:r>
          </a:p>
          <a:p>
            <a:pPr>
              <a:spcAft>
                <a:spcPts val="500"/>
              </a:spcAft>
              <a:defRPr sz="1900" b="1">
                <a:solidFill>
                  <a:srgbClr val="000000"/>
                </a:solidFill>
                <a:latin typeface="Arial"/>
              </a:defRPr>
            </a:pPr>
            <a:r>
              <a:t>Every major design change was made because testing exposed a limitation.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05050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Dataset Sources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FASSD used multiple sources: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ASVspoof Logical Access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ASVspoof Deepfake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ASVspoof Physical Access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Real-world collected audio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Controlled forensic audio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Augmented audio with noise, reverb, codec, gain, and channel effects</a:t>
            </a:r>
          </a:p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Unified Dataset Size</a:t>
            </a:r>
          </a:p>
          <a:p>
            <a:pPr>
              <a:spcAft>
                <a:spcPts val="500"/>
              </a:spcAft>
              <a:defRPr sz="1900" b="1">
                <a:solidFill>
                  <a:srgbClr val="000000"/>
                </a:solidFill>
                <a:latin typeface="Arial"/>
              </a:defRPr>
            </a:pPr>
            <a:r>
              <a:t>1,893,919 audio samples</a:t>
            </a:r>
          </a:p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Dataset Distribution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Spoof samples: 1,573,308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Bona fide samples: 320,611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Replay samples: 816,480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Conversion samples: 589,212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Synthesis samples: 167,616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05050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Audio Processing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End-to-End Pipeline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Audio upload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↓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Audio loading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↓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Resampling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↓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Normalization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↓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Segmentation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↓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Feature extraction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↓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Evidence models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↓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Fusion logic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↓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Report output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↓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Web interface</a:t>
            </a:r>
          </a:p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Production Processing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Audio is standardized before analysis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Backend uses consistent processing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Segment-level analysis supports partial fabrication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05050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Feature Extraction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Features Used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Feature Type           | Purpose                       |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---------------------- | ----------------------------- |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LFCC                   | Baseline spoofing detection   |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Log-Mel                | Spectral deep learning models |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Environmental Features | Replay and channel evidence   |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SSL Embeddings         | AI-origin evidence            |</a:t>
            </a:r>
          </a:p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Why Multiple Features?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Different manipulations leave different traces.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AI speech affects voice-origin patterns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Replay affects recording-chain patterns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Mixer/channel changes affect acoustic conditions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Partial fabrication affects local segments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05050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Baseline CNN/LCNN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First Approved-Scope Model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The baseline model used LFCC features and CNN/LCNN-style classification.</a:t>
            </a:r>
          </a:p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Results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Test Setting       | Result |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------------------ | ------ |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LFCC Clean EER     | 9.68%  |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LFCC Augmented EER | 15.71% |</a:t>
            </a:r>
          </a:p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Conclusion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The baseline pipeline worked, but it was not enough for final forensic analysis.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05050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ResNet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Why We Tried ResNet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We used ResNet because deeper convolutional models can learn stronger spectral patterns from log-mel features.</a:t>
            </a:r>
          </a:p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Results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Test Setting  | Result |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------------- | ------ |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Clean EER     | 0.57%  |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Augmented EER | 2.61%  |</a:t>
            </a:r>
          </a:p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Important Finding</a:t>
            </a:r>
          </a:p>
          <a:p>
            <a:pPr>
              <a:spcAft>
                <a:spcPts val="500"/>
              </a:spcAft>
              <a:defRPr sz="1900" b="1">
                <a:solidFill>
                  <a:srgbClr val="000000"/>
                </a:solidFill>
                <a:latin typeface="Arial"/>
              </a:defRPr>
            </a:pPr>
            <a:r>
              <a:t>ResNet achieved the best benchmark EER, but it was not selected as the final product model.</a:t>
            </a:r>
          </a:p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Why?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It failed on broadcast-style real-world audio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It behaved inconsistently outside benchmark conditions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It produced a single fake/real style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05050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Environmental Feature Classifier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Why We Added Environmental Features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Real-world audio contains recording-chain evidence, such as: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Noise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Reverb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Channel distortion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Replay effects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Too-clean synthetic conditions</a:t>
            </a:r>
          </a:p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Results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Setup            | Result       |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---------------- | ------------ |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Anomaly setup    | around 24.5% |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Supervised setup | 81.69%       |</a:t>
            </a:r>
          </a:p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Conclusion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Environmental features were useful but not reliable as a standalone detector.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05050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HybridResNetEnvironmental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Hybrid Architecture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The hybrid model combined: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Log-mel spectral branch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12-dimensional environmental feature vector</a:t>
            </a:r>
          </a:p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Results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Metric              | Result |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------------------- | ------ |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EER                 | 16.21% |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AUC                 | 0.9167 |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Binary Accuracy     | 89.78% |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Multiclass Accuracy | 64.36% |</a:t>
            </a:r>
          </a:p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Conclusion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The hybrid model was useful for research comparison, but it was not selected as the final deployed decision logic.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05050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AASIST 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Why We Tested AASIST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AASIST is a strong anti-spoofing architecture in the literature.</a:t>
            </a:r>
          </a:p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Our Controlled Testing Result</a:t>
            </a:r>
          </a:p>
          <a:p>
            <a:pPr>
              <a:spcAft>
                <a:spcPts val="500"/>
              </a:spcAft>
              <a:defRPr sz="1900" b="1">
                <a:solidFill>
                  <a:srgbClr val="000000"/>
                </a:solidFill>
                <a:latin typeface="Arial"/>
              </a:defRPr>
            </a:pPr>
            <a:r>
              <a:t>22 out of 23 clean human recordings were falsely flagged.</a:t>
            </a:r>
          </a:p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Decision</a:t>
            </a:r>
          </a:p>
          <a:p>
            <a:pPr>
              <a:spcAft>
                <a:spcPts val="500"/>
              </a:spcAft>
              <a:defRPr sz="1900" b="1">
                <a:solidFill>
                  <a:srgbClr val="000000"/>
                </a:solidFill>
                <a:latin typeface="Arial"/>
              </a:defRPr>
            </a:pPr>
            <a:r>
              <a:t>AASIST was rejected for final deployment.</a:t>
            </a:r>
          </a:p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Reason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A strong research model is not automatically safe for a real forensic interface.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05050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Main Research Discovery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What We Learned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Different models failed in different ways: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Baseline CNN/LCNN was limited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ResNet had excellent benchmark EER but weak real-world generalization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Environmental model was useful but incomplete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Hybrid model still mixed evidence meanings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AASIST produced many false alarms</a:t>
            </a:r>
          </a:p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Final Decision</a:t>
            </a:r>
          </a:p>
          <a:p>
            <a:pPr>
              <a:spcAft>
                <a:spcPts val="500"/>
              </a:spcAft>
              <a:defRPr sz="1900" b="1">
                <a:solidFill>
                  <a:srgbClr val="000000"/>
                </a:solidFill>
                <a:latin typeface="Arial"/>
              </a:defRPr>
            </a:pPr>
            <a:r>
              <a:t>Build a multi-axis forensic evidence system.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05050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Final Phase 9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Multi-Axis Evidence Architecture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Audio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↓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Preprocessing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↓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Four Evidence Axes: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1. Origin evidence axis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2. Replay evidence axis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3. Mixer/channel evidence axis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4. Partial fabrication evidence axis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↓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Fusion layer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↓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Report layer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↓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Web interface</a:t>
            </a:r>
          </a:p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Final Output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Evidence indicators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Evidence bands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Segment highlights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Manual-review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05050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Origin Evidence Axis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Purpose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Detect whether the voice has AI-origin indicators.</a:t>
            </a:r>
          </a:p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Model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SSL-based origin file model.</a:t>
            </a:r>
          </a:p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Results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Metric                  | Result |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----------------------- | ------ |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Threshold               | 0.92   |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Release matrix accuracy | 83.33% |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Balanced accuracy       | 82.50% |</a:t>
            </a:r>
          </a:p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Known Failures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Some human files were falsely flagged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WhatsApp-compressed AI audio was missed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05050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Replay Evidence Axis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Purpose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Detect replay or rerecording evidence.</a:t>
            </a:r>
          </a:p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Results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Metric            | Result |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----------------- | ------ |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Threshold         | 0.65   |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Accuracy          | 80%    |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Balanced accuracy | 77.38% |</a:t>
            </a:r>
          </a:p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Important Rule</a:t>
            </a:r>
          </a:p>
          <a:p>
            <a:pPr>
              <a:spcAft>
                <a:spcPts val="500"/>
              </a:spcAft>
              <a:defRPr sz="1900" b="1">
                <a:solidFill>
                  <a:srgbClr val="000000"/>
                </a:solidFill>
                <a:latin typeface="Arial"/>
              </a:defRPr>
            </a:pPr>
            <a:r>
              <a:t>Replay evidence does not mean AI-generated speech.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A human voice can also be replayed or rerecorded.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05050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Mixer / Channel Evidence Axis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Purpose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Detect channel or mixing-related artifacts.</a:t>
            </a:r>
          </a:p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Results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Metric    | Result |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--------- | ------ |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Threshold | 0.75   |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Accuracy  | 88%    |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Recall    | 0%     |</a:t>
            </a:r>
          </a:p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Honest Limitation</a:t>
            </a:r>
          </a:p>
          <a:p>
            <a:pPr>
              <a:spcAft>
                <a:spcPts val="500"/>
              </a:spcAft>
              <a:defRPr sz="1900" b="1">
                <a:solidFill>
                  <a:srgbClr val="000000"/>
                </a:solidFill>
                <a:latin typeface="Arial"/>
              </a:defRPr>
            </a:pPr>
            <a:r>
              <a:t>This was the weakest final axis.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The model did not detect positive mixer/channel cases reliably in the release matrix.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05050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Partial Fabrication Axis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Purpose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Detect suspicious edited or manipulated regions.</a:t>
            </a:r>
          </a:p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Method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Audio is analyzed in segments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Suspicious candidate regions are highlighted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Output is shown as moments to replay</a:t>
            </a:r>
          </a:p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Results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Metric                  | Result                          |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----------------------- | ------------------------------- |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Threshold               | 0.95                            |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Release matrix accuracy | 100%                            |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Status                  | Experimental manual-review only |</a:t>
            </a:r>
          </a:p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Important Rule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Segment evidence is not proof of editing. It only highlights areas for closer review.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05050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Fusion and Report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Why Fusion Is Needed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One model can fail, so FASSD combines multiple evidence axes.</a:t>
            </a:r>
          </a:p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Output Style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Low evidence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Medium evidence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High evidence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Manual review required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No conclusive authenticity decision</a:t>
            </a:r>
          </a:p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Safety Principle</a:t>
            </a:r>
          </a:p>
          <a:p>
            <a:pPr>
              <a:spcAft>
                <a:spcPts val="500"/>
              </a:spcAft>
              <a:defRPr sz="1900" b="1">
                <a:solidFill>
                  <a:srgbClr val="000000"/>
                </a:solidFill>
                <a:latin typeface="Arial"/>
              </a:defRPr>
            </a:pPr>
            <a:r>
              <a:t>FASSD does not issue a legal certificate.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05050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Literature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What Most Literature Focuses On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Many audio deepfake studies focus on: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Benchmark datasets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Single fake/real classification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EER or accuracy improvement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Anti-spoofing model comparison</a:t>
            </a:r>
          </a:p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What FASSD Adds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Literature Focus          | FASSD Extension                              |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------------------------- | -------------------------------------------- |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Single spoof score        | Four evidence axes                           |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Benchmark-only testing    | Controlled and real-world case testing       |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Model accuracy            | Evidence explanation                         |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File-level classification | Segment-level partial fabrication candidates |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Research output           | Deployed web application                     |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Detector result           | Manual-review forensic report                |</a:t>
            </a:r>
          </a:p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Key Difference</a:t>
            </a:r>
          </a:p>
          <a:p>
            <a:pPr>
              <a:spcAft>
                <a:spcPts val="500"/>
              </a:spcAft>
              <a:defRPr sz="1900" b="1">
                <a:solidFill>
                  <a:srgbClr val="000000"/>
                </a:solidFill>
                <a:latin typeface="Arial"/>
              </a:defRPr>
            </a:pPr>
            <a:r>
              <a:t>FASSD is not only a detector; it is a forensic evidence reporting system.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05050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Literature and Results 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Number-Based Comparison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System / Model              | Strength                                         | Limitation                                              |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--------------------------- | ------------------------------------------------ | ------------------------------------------------------- |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Traditional CNN/LCNN        | Simple baseline, official scope                  | Limited robustness                                      |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ResNet in FASSD             | Very strong EER: 0.57% clean, 2.61% augmented    | Failed broadcast-style testing                          |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AASIST-style advanced model | Strong anti-spoofing architecture in literature  | Our controlled test gave 22/23 clean-human false alarms |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Hybrid model                | AUC 0.9167, binary accuracy 89.78%               | Still single combined decision                          |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Final FASSD multi-axis      | Explains origin, replay, mixer, partial evidence | Some axes still experimental                            |</a:t>
            </a:r>
          </a:p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Our Better Point</a:t>
            </a:r>
          </a:p>
          <a:p>
            <a:pPr>
              <a:spcAft>
                <a:spcPts val="500"/>
              </a:spcAft>
              <a:defRPr sz="1900" b="1">
                <a:solidFill>
                  <a:srgbClr val="000000"/>
                </a:solidFill>
                <a:latin typeface="Arial"/>
              </a:defRPr>
            </a:pPr>
            <a:r>
              <a:t>FASSD is better in evidence coverage and practical reporting, not by claiming universal benchmark superiority.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05050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Final System Result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Final Multi-Axis Release Results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Axis                   | Accuracy | Balanced Accuracy |  Recall |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---------------------- | -------: | ----------------: | ------: |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Origin evidence        |   83.33% |            82.50% |  90.00% |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Replay evidence        |   80.00% |            77.38% |  71.43% |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Mixer/channel evidence |   88.00% |            47.83% |   0.00% |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Partial fabrication    |  100.00% |           100.00% | 100.00% |</a:t>
            </a:r>
          </a:p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Interpretation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Origin and replay axes are useful but imperfect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Mixer/channel axis needs improvement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Partial fabrication result is promising but experimental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Manual review remains necessary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05050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Web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Final Public System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Website: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https://www.deepfakedetection.dev/</a:t>
            </a:r>
          </a:p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Technology Stack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Component      | Technology              |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-------------- | ----------------------- |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Frontend       | Next.js on Vercel       |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Backend        | FastAPI on DigitalOcean |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HTTPS          | Caddy                   |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Authentication | Firebase Auth           |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History        | Firestore               |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ML Inference   | Phase 9 FastAPI backend |</a:t>
            </a:r>
          </a:p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User Flow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Upload audio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↓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Analyze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↓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View four evidence cards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↓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Review timestamps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↓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Read safety disclaimer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↓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Use report for manual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05050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Repository and Deployment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Public Links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Live Website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https://www.deepfakedetection.dev/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Repository 1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https://github.com/RanaAreeb/FASSD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Repository 2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https://github.com/MHS-4ever/FYP_FASSD</a:t>
            </a:r>
          </a:p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What These Show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Source code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Project implementation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ML/backend development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Website integration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Final deployed system direction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05050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Real-World Case Studies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Why We Added Case Studies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Benchmark datasets are important, but real-world audio is harder.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We tested FASSD on two public deepfake audio incidents: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1. Biden New Hampshire robocall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2. Baltimore/Pikesville principal audio</a:t>
            </a:r>
          </a:p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Purpose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To compare: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External forensic discussion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Public investigative findings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FASSD evidence-axis output</a:t>
            </a:r>
          </a:p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Safety Note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FASSD output is experimental evidence only, not legal proof.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05050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Case Study 1: Biden New Hampshire Robocall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Case Overview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In January 2024, a robocall imitating President Joe Biden was sent to voters in New Hampshire before the primary. The call used a cloned voice message and became a major public example of political AI audio misuse.</a:t>
            </a:r>
          </a:p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External Finding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External analysis described the robocall as AI-generated voice audio. Public discussion also suggested phone-channel and robocall distribution effects.</a:t>
            </a:r>
          </a:p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FASSD Test File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Field     | Value                                |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--------- | ------------------------------------ |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File      | biden_nh_robocall.wav                |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Duration  | 33.3 s                               |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Test date | 2026-06-24                           |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Case ID   | case-biden-nh-robocall               |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Source    | Public YouTube copy, 16 kHz mono WAV |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05050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Biden Robocall: FASSD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FASSD Evidence Output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Evidence Axis      | FASSD Result                                 | Evidence Band / Estimate            |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------------------ | -------------------------------------------- | ----------------------------------- |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Voice source       | Inconclusive under replay/channel processing | Borderline, raw origin around 88.7% |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Replay/rerecording | Elevated replay indicator                    | High, around 96.0%                  |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Mixer/channel      | Elevated channel indicator                   | High, around 96.0%                  |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Partial segments   | Candidate segments detected                  | Top segment around 96.0%            |</a:t>
            </a:r>
          </a:p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Highlighted Moments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26.0–30.0 s: around 96.0%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30.0–33.3 s: around 96.0%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4.0–8.0 s: low contrast</a:t>
            </a:r>
          </a:p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Comparison with External Finding</a:t>
            </a:r>
          </a:p>
          <a:p>
            <a:pPr>
              <a:spcAft>
                <a:spcPts val="500"/>
              </a:spcAft>
              <a:defRPr sz="1900" b="1">
                <a:solidFill>
                  <a:srgbClr val="000000"/>
                </a:solidFill>
                <a:latin typeface="Arial"/>
              </a:defRPr>
            </a:pPr>
            <a:r>
              <a:t>Agreement level: Mixed / partial agreement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FASSD did not give a clean AI-origin verdict because replay and channel processing dominated the public copy. However, strong replay and channel indicators align with robocall/news-media distribution.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05050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Case Study 2: Baltimore/Pikesville Principal Audio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Case Overview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In 2024, an audio recording circulated online that appeared to show a school principal making offensive comments. Later public reporting and investigation described it as fake or AI-generated.</a:t>
            </a:r>
          </a:p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External Finding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External forensic discussion described signs of AI generation, editing, unnatural pauses, and possible recording-chain manipulation.</a:t>
            </a:r>
          </a:p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FASSD Test File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Field     | Value                                |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--------- | ------------------------------------ |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File      | pikesville_principal.wav             |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Duration  | 45.0 s                               |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Test date | 2026-06-24                           |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Case ID   | case-pikesville-principal            |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Source    | Public YouTube copy, 16 kHz mono WAV |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05050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Pikesville Principal: FASSD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FASSD Evidence Output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Evidence Axis      | FASSD Result                | Evidence Band / Estimate           |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------------------ | --------------------------- | ---------------------------------- |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Voice source       | Likely AI-generated         | Moderate–high, around 96.0%        |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Replay/rerecording | Low replay indicator        | Low, around 0.0%                   |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Mixer/channel      | Low mixer/channel indicator | Low, around 0.0%                   |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Partial segments   | Candidate segments detected | Moderate, top segment around 96.0% |</a:t>
            </a:r>
          </a:p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Highlighted Moments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42.0–45.0 s: around 96.0%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14.0–18.0 s: around 19.9%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22.0–26.0 s: around 12.9%</a:t>
            </a:r>
          </a:p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Comparison with External Finding</a:t>
            </a:r>
          </a:p>
          <a:p>
            <a:pPr>
              <a:spcAft>
                <a:spcPts val="500"/>
              </a:spcAft>
              <a:defRPr sz="1900" b="1">
                <a:solidFill>
                  <a:srgbClr val="000000"/>
                </a:solidFill>
                <a:latin typeface="Arial"/>
              </a:defRPr>
            </a:pPr>
            <a:r>
              <a:t>Agreement level: Broad agreement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FASSD reported elevated AI-origin evidence and partial-segment candidates. This broadly matches public forensic discussion that described the clip as AI-generated and manipulated.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05050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Case Study Comparison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External Findings vs FASSD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Case                 | External Finding                  | FASSD Output                                                 | Agreement       |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-------------------- | --------------------------------- | ------------------------------------------------------------ | --------------- |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Biden NH Robocall    | AI-generated robocall             | Borderline origin, high replay/channel, partial candidates   | Mixed / partial |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Pikesville Principal | AI-generated or manipulated audio | High origin evidence, partial candidates, low replay/channel | Broad agreement |</a:t>
            </a:r>
          </a:p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What This Shows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FASSD can support real-world forensic review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Public copies can be affected by compression and channel artifacts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Evidence axes explain why a result may be inconclusive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Case studies are stronger than only benchmark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05050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Final Interface and Report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What the User Receives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After uploading audio, the user receives: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Plain-language headline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Four evidence cards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Evidence band for each axis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Segment timestamps or moments to replay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Report-oriented explanation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Safety disclaimer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Manual-review recommendation</a:t>
            </a:r>
          </a:p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Important</a:t>
            </a:r>
          </a:p>
          <a:p>
            <a:pPr>
              <a:spcAft>
                <a:spcPts val="500"/>
              </a:spcAft>
              <a:defRPr sz="1900" b="1">
                <a:solidFill>
                  <a:srgbClr val="000000"/>
                </a:solidFill>
                <a:latin typeface="Arial"/>
              </a:defRPr>
            </a:pPr>
            <a:r>
              <a:t>The report is not a legal certificate.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05050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Why Firestore NoSQL Instead of SQL?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Reason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Firestore was used because the website needed lightweight user history and authentication-linked records.</a:t>
            </a:r>
          </a:p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Why Firestore Was Suitable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Reason                    | Explanation                                 |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------------------------- | ------------------------------------------- |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Firebase Auth integration | Direct connection with user accounts        |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Flexible schema           | Report fields changed during development    |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Simple user history       | Each analysis can be stored as one document |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Fast deployment           | No separate SQL server needed               |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| Separate ML backend       | Inference is handled by FastAPI             |</a:t>
            </a:r>
          </a:p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Important Clarification</a:t>
            </a:r>
          </a:p>
          <a:p>
            <a:pPr>
              <a:spcAft>
                <a:spcPts val="500"/>
              </a:spcAft>
              <a:defRPr sz="1900" b="1">
                <a:solidFill>
                  <a:srgbClr val="000000"/>
                </a:solidFill>
                <a:latin typeface="Arial"/>
              </a:defRPr>
            </a:pPr>
            <a:r>
              <a:t>Firestore stores web history, not the full ML inference pipeline.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05050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Current Limitations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FASSD is not court-ready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Manual review is required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Mixer/channel axis has weak recall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WhatsApp and phone compression can hide origin cues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Partial fabrication is experimental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Public copies may lose forensic traces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More external validation is needed</a:t>
            </a:r>
          </a:p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Honest Position</a:t>
            </a:r>
          </a:p>
          <a:p>
            <a:pPr>
              <a:spcAft>
                <a:spcPts val="500"/>
              </a:spcAft>
              <a:defRPr sz="1900" b="1">
                <a:solidFill>
                  <a:srgbClr val="000000"/>
                </a:solidFill>
                <a:latin typeface="Arial"/>
              </a:defRPr>
            </a:pPr>
            <a:r>
              <a:t>FASSD is a research prototype and decision-support tool, not a final forensic authority.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05050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Future Improvements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Larger real-world forensic dataset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Better WhatsApp and phone-channel robustness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Improved mixer/channel model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Stronger partial fabrication localization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More public case studies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Expert forensic validation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Chain-of-custody and case-management support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Full PDF/JSON report storage for each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05050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Final Contributions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Main Contributions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1. Complete audio deepfake detection pipeline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2. Large unified dataset preparation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3. Multiple model experiments and documented failures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4. Controlled forensic testing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5. Final multi-axis evidence architecture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6. Evidence-band reporting system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7. Public deployed web application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8. Real-world case study evaluation</a:t>
            </a:r>
          </a:p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Biggest Contribution</a:t>
            </a:r>
          </a:p>
          <a:p>
            <a:pPr>
              <a:spcAft>
                <a:spcPts val="500"/>
              </a:spcAft>
              <a:defRPr sz="1900" b="1">
                <a:solidFill>
                  <a:srgbClr val="000000"/>
                </a:solidFill>
                <a:latin typeface="Arial"/>
              </a:defRPr>
            </a:pPr>
            <a:r>
              <a:t>Moving from binary detection to multi-axis forensic evidence reporting.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05050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Final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Conclusion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FASSD achieved the official FYP objectives and extended them into a deployed forensic audio decision-support prototype.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The final system: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Analyzes audio through four evidence axes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Provides readable reports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Highlights suspicious moments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Avoids unsafe fake/real overclaiming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Supports manual forensic review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Is deployed on a public website</a:t>
            </a:r>
          </a:p>
          <a:p>
            <a:pPr>
              <a:spcAft>
                <a:spcPts val="50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Final Statement</a:t>
            </a:r>
          </a:p>
          <a:p>
            <a:pPr>
              <a:spcAft>
                <a:spcPts val="500"/>
              </a:spcAft>
              <a:defRPr sz="1900" b="1">
                <a:solidFill>
                  <a:srgbClr val="000000"/>
                </a:solidFill>
                <a:latin typeface="Arial"/>
              </a:defRPr>
            </a:pPr>
            <a:r>
              <a:t>FASSD does not replace forensic experts; it helps them know where to look.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05050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# Thank You</a:t>
            </a:r>
          </a:p>
          <a:p>
            <a:pPr>
              <a:spcAft>
                <a:spcPts val="500"/>
              </a:spcAft>
              <a:defRPr sz="1900" b="1">
                <a:solidFill>
                  <a:srgbClr val="000000"/>
                </a:solidFill>
                <a:latin typeface="Arial"/>
              </a:defRPr>
            </a:pPr>
            <a:r>
              <a:t>Questions?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Live Website: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https://www.deepfakedetection.dev/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Repositories: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https://github.com/RanaAreeb/FASSD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https://github.com/MHS-4ever/FYP_FASSD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05050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