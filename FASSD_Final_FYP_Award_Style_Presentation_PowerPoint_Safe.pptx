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Spoof vs Bona Fide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Spoof</c:v>
                </c:pt>
                <c:pt idx="1">
                  <c:v>Bona fide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1573308</c:v>
                </c:pt>
                <c:pt idx="1">
                  <c:v>320611</c:v>
                </c:pt>
              </c:numCache>
            </c:numRef>
          </c:val>
        </c:ser>
        <c:dLbls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Spoof Type Counts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Samples (k)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Replay</c:v>
                </c:pt>
                <c:pt idx="1">
                  <c:v>Conversion</c:v>
                </c:pt>
                <c:pt idx="2">
                  <c:v>Synthesis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816.48</c:v>
                </c:pt>
                <c:pt idx="1">
                  <c:v>589.212</c:v>
                </c:pt>
                <c:pt idx="2">
                  <c:v>167.616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Thousands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EER Comparison (lower is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EER %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CNN clean</c:v>
                </c:pt>
                <c:pt idx="1">
                  <c:v>CNN aug</c:v>
                </c:pt>
                <c:pt idx="2">
                  <c:v>ResNet clean</c:v>
                </c:pt>
                <c:pt idx="3">
                  <c:v>ResNet aug</c:v>
                </c:pt>
                <c:pt idx="4">
                  <c:v>Hybrid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9.68</c:v>
                </c:pt>
                <c:pt idx="1">
                  <c:v>15.71</c:v>
                </c:pt>
                <c:pt idx="2">
                  <c:v>0.57</c:v>
                </c:pt>
                <c:pt idx="3">
                  <c:v>2.61</c:v>
                </c:pt>
                <c:pt idx="4">
                  <c:v>16.21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Clean Human Test Result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False flagged</c:v>
                </c:pt>
                <c:pt idx="1">
                  <c:v>Not flagged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Recordings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Final Release Matrix Metrics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Mixer/channel</c:v>
                </c:pt>
                <c:pt idx="3">
                  <c:v>Partial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83.33</c:v>
                </c:pt>
                <c:pt idx="1">
                  <c:v>80.0</c:v>
                </c:pt>
                <c:pt idx="2">
                  <c:v>88.0</c:v>
                </c:pt>
                <c:pt idx="3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 accuracy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Mixer/channel</c:v>
                </c:pt>
                <c:pt idx="3">
                  <c:v>Partial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82.5</c:v>
                </c:pt>
                <c:pt idx="1">
                  <c:v>77.38</c:v>
                </c:pt>
                <c:pt idx="2">
                  <c:v>47.83</c:v>
                </c:pt>
                <c:pt idx="3">
                  <c:v>100.0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Mixer/channel</c:v>
                </c:pt>
                <c:pt idx="3">
                  <c:v>Partial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90.0</c:v>
                </c:pt>
                <c:pt idx="1">
                  <c:v>71.43</c:v>
                </c:pt>
                <c:pt idx="2">
                  <c:v>0.0</c:v>
                </c:pt>
                <c:pt idx="3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FASSD Evidence Estimates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 %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Channel</c:v>
                </c:pt>
                <c:pt idx="3">
                  <c:v>Partial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88.7</c:v>
                </c:pt>
                <c:pt idx="1">
                  <c:v>96.0</c:v>
                </c:pt>
                <c:pt idx="2">
                  <c:v>96.0</c:v>
                </c:pt>
                <c:pt idx="3">
                  <c:v>96.0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F1F5F9"/>
                </a:solidFill>
              </a:rPr>
              <a:t>FASSD Evidence Estimates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Estimate %</c:v>
                </c:pt>
              </c:strCache>
            </c:strRef>
          </c:tx>
          <c:dLbls>
            <c:numFmt formatCode="0.0" sourceLinked="0"/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Origin</c:v>
                </c:pt>
                <c:pt idx="1">
                  <c:v>Replay</c:v>
                </c:pt>
                <c:pt idx="2">
                  <c:v>Channel</c:v>
                </c:pt>
                <c:pt idx="3">
                  <c:v>Partial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96.0</c:v>
                </c:pt>
                <c:pt idx="1">
                  <c:v>0.0</c:v>
                </c:pt>
                <c:pt idx="2">
                  <c:v>0.0</c:v>
                </c:pt>
                <c:pt idx="3">
                  <c:v>96.0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respected panel. Our project is FASSD, an experimental forensic audio decision-support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started with binary deepfake detection. Testing showed real-world audio requires evidence separation.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22D3EE"/>
                </a:solidFill>
                <a:latin typeface="Aptos"/>
              </a:rPr>
              <a:t>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8046720" cy="9144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5800" b="1">
                <a:solidFill>
                  <a:srgbClr val="F1F5F9"/>
                </a:solidFill>
                <a:latin typeface="Aptos"/>
              </a:rPr>
              <a:t>FASSD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8961120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43200"/>
            <a:ext cx="7498079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Aptos"/>
              </a:rPr>
              <a:t>Multi-axis forensic audio evidence reporting for AI-origin, replay, channel, and partial fabrication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977639"/>
            <a:ext cx="288036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123943"/>
            <a:ext cx="2478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453127"/>
            <a:ext cx="2478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Rana M. Areeb
M. Hasnain Siddique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3977639"/>
            <a:ext cx="24688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0207" y="4123943"/>
            <a:ext cx="2066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7" y="4453127"/>
            <a:ext cx="2066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Sir Faran Mehmood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977639"/>
            <a:ext cx="438912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4123943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LIVE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453127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https://www.deepfakedetection.dev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Opening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Why the project changed from a detector into a forensic evidence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438912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75104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STARTED 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04288"/>
            <a:ext cx="3986784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Aptos"/>
              </a:rPr>
              <a:t>Detect AI-generated speech using 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828800"/>
            <a:ext cx="438912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8" y="1975104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BECAME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04288"/>
            <a:ext cx="3986784" cy="5486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Aptos"/>
              </a:rPr>
              <a:t>Explain what evidence exists in audio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212848"/>
            <a:ext cx="109728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34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Real audio may be compressed, replayed, mixed, edited, or re-uploaded.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A single fake/real score cannot explain these different failure modes.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983480"/>
            <a:ext cx="10058400" cy="82296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239512"/>
            <a:ext cx="94183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Main realization: a single fake/real detector is not enough for forensic audio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Modern voice cloning is realistic; real recordings are messy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3840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Noise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Compression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Replay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Broadcast chains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Speaker-to-device recording</a:t>
            </a:r>
          </a:p>
          <a:p>
            <a:pPr>
              <a:spcAft>
                <a:spcPts val="648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Partial editing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28800"/>
            <a:ext cx="6583680" cy="219456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084832"/>
            <a:ext cx="5943600" cy="1737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How can we detect and explain suspicious forensic evidence in audio instead of only giving a binary fake/real label?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00600"/>
            <a:ext cx="32004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94690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  <a:latin typeface="Aptos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5276088"/>
            <a:ext cx="27980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Overclaiming can create false accusations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800600"/>
            <a:ext cx="32004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494690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NEED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5276088"/>
            <a:ext cx="27980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Evidence bands + explanation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800600"/>
            <a:ext cx="32004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494690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5276088"/>
            <a:ext cx="27980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Manual-review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Project Aim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Move from a label to explainable forensic evidence axes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592324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75104"/>
            <a:ext cx="218998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304288"/>
            <a:ext cx="2189988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AI-origin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5556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3572" y="1828800"/>
            <a:ext cx="2592324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4740" y="1975104"/>
            <a:ext cx="218998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4740" y="2304288"/>
            <a:ext cx="2189988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Replay / rerecording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8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1828800"/>
            <a:ext cx="2592324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1975104"/>
            <a:ext cx="218998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2304288"/>
            <a:ext cx="2189988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Mixer /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9660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37676" y="1828800"/>
            <a:ext cx="2592324" cy="12344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8844" y="1975104"/>
            <a:ext cx="218998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8844" y="2304288"/>
            <a:ext cx="2189988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Partial fabrication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3977639"/>
            <a:ext cx="438912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7008" y="4123943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  <a:latin typeface="Aptos"/>
              </a:rPr>
              <a:t>FROM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4453127"/>
            <a:ext cx="3986784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“Is this fake or real?”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977639"/>
            <a:ext cx="4389120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4123943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453127"/>
            <a:ext cx="3986784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“What evidence exists?”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Iterative and incremental development driven by experimental failures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1448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Evaluate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Find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Improve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Test again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FBBF24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0968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Freeze 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931920"/>
            <a:ext cx="9784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Requirements changed after real-world testing.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Each phase produced a working output.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Final architecture was selected using evidence, not only benchmark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Full Project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Every major design change came from a discovered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CNN/LCNN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5417" y="21534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3433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4601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4601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ResNet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0211" y="21534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18227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9395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9395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Environmental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5004" y="21534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53020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4188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188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Hybrid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9798" y="21534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7814" y="17830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88982" y="19293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8982" y="22585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AASIST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Controlled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5417" y="35250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3433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84601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84601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Multi-axis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0211" y="35250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18227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9395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9395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Phase 9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25004" y="35250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53020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54188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4188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Web deploy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9798" y="352501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87814" y="3154680"/>
            <a:ext cx="2125065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88982" y="3300984"/>
            <a:ext cx="1722729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88982" y="3630168"/>
            <a:ext cx="1722729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Case studies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5840" y="4983480"/>
            <a:ext cx="10058400" cy="77724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25880" y="5239512"/>
            <a:ext cx="9418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The final system is the result of failure analysis, not random model switching.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Dataset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Large unified dataset with spoof, bona fide, replay, conversion and synthesis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7432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46504"/>
            <a:ext cx="23408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UNIFIED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075688"/>
            <a:ext cx="23408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Aptos"/>
              </a:rPr>
              <a:t>1,893,919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600200"/>
            <a:ext cx="27432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8768" y="1746504"/>
            <a:ext cx="23408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87171"/>
                </a:solidFill>
                <a:latin typeface="Aptos"/>
              </a:rPr>
              <a:t>SPOOF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075688"/>
            <a:ext cx="23408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Aptos"/>
              </a:rPr>
              <a:t>1,573,308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600200"/>
            <a:ext cx="27432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1746504"/>
            <a:ext cx="23408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BONA FIDE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075688"/>
            <a:ext cx="23408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F1F5F9"/>
                </a:solidFill>
                <a:latin typeface="Aptos"/>
              </a:rPr>
              <a:t>320,611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77240" y="2788920"/>
          <a:ext cx="48463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989320" y="2788920"/>
          <a:ext cx="530352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Audio 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Consistent backend processing before evidence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6616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54632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55800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5800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8328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06344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7512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7512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Resample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0040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8056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9224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9224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1752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09768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0936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0936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3464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1480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62648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62648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5176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3192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4360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4360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Evidence models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6888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64904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6072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6072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88600" y="235915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6616" y="1965960"/>
            <a:ext cx="1141984" cy="100584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17784" y="2112264"/>
            <a:ext cx="739648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17784" y="2441448"/>
            <a:ext cx="739648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069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Standardizes different audio formats and sample rates.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Segment-level analysis supports partial fabrication review.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Reports are generated as decision-support evidence, not proof.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Feature Extraction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Different manipulations leave different traces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09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64592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Feature type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Primary role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LFCC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Baseline spoofing detection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Log-Mel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Spectral deep learning models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Environmental features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Replay and channel evidence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SSL embeddings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AI-origin evidence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Segment transitions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Partial fabrication candidates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49440" y="1828800"/>
            <a:ext cx="42976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AI speech: voice-origin patterns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Replay: recording-chain patterns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Mixer/channel: acoustic conditions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Partial fabrication: local segment discontinuities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Model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Strong benchmark numbers did not always mean safe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554480"/>
          <a:ext cx="51206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0" y="1737360"/>
            <a:ext cx="47548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1883664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KEY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212848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ResNet had excellent EER but failed real-world style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34640"/>
            <a:ext cx="47548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3310128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Final system prioritizes evidence coverage and safe reporting.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31920"/>
            <a:ext cx="47548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4078224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DEFENSE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407408"/>
            <a:ext cx="435254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We do not claim universal benchmark superiority.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AASIST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strong literature model was rejected after controlled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914400" y="1737360"/>
          <a:ext cx="48463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09360" y="1874519"/>
            <a:ext cx="4663440" cy="109728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30551"/>
            <a:ext cx="4023360" cy="6400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22 out of 23 clean human recordings were falsely flagged.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37560"/>
            <a:ext cx="45720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False accusations are high-risk in forensic interfaces.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A strong research model is not automatically safe for deployment.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This justified the cautious multi-axis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Final Phase 9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Four evidence axes + fusion + report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Audio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11096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2264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2264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Preprocess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91256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2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Origin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7608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35624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8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4968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Partial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1976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53144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3144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32136" y="2231136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60152" y="1828800"/>
            <a:ext cx="1298448" cy="1024128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61320" y="1975104"/>
            <a:ext cx="896112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2304288"/>
            <a:ext cx="896112" cy="4297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3886200"/>
            <a:ext cx="256032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" y="4032504"/>
            <a:ext cx="21579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ORIGIN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4361688"/>
            <a:ext cx="215798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Synthetic voice indicators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11880" y="3886200"/>
            <a:ext cx="256032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13048" y="4032504"/>
            <a:ext cx="21579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REPLAY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13048" y="4361688"/>
            <a:ext cx="215798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Rerecording evidence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3886200"/>
            <a:ext cx="256032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01968" y="4032504"/>
            <a:ext cx="21579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A855F7"/>
                </a:solidFill>
                <a:latin typeface="Aptos"/>
              </a:rPr>
              <a:t>CHANNEL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4361688"/>
            <a:ext cx="215798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Processing artifacts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89720" y="3886200"/>
            <a:ext cx="256032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90888" y="4032504"/>
            <a:ext cx="21579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PARTIAL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90888" y="4361688"/>
            <a:ext cx="215798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Suspicious moments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Final Multi-Axis Release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Separate metrics prevent one weak axis from hiding inside one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40080" y="1508760"/>
          <a:ext cx="1097280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623560"/>
            <a:ext cx="1060704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400" b="1">
                <a:solidFill>
                  <a:srgbClr val="FBBF24"/>
                </a:solidFill>
                <a:latin typeface="Aptos"/>
              </a:rPr>
              <a:t>Honest interpretation: origin/replay useful, mixer/channel weak recall, partial promising but still experimental.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Evidence Axis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What each axis means in presentation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0020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5852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Axis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Threshold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Important caveat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Origin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0.92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AI-origin indicators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Compression can mask cues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Replay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0.65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Rerecording evidence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Does not mean AI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Mixer/channel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0.75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Channel artifacts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Weak positive recall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0.95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Candidate moments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Manual-review only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463040" y="4983480"/>
            <a:ext cx="9326880" cy="73152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5239512"/>
            <a:ext cx="868680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The system reports evidence indicators, not legal proof.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Fusion and Report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Designed to avoid unsafe fake/real overclaiming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51206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Low / moderate / high evidence bands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Manual review recommendation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No conclusive authenticity certificate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Segment timestamps for listening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Plain-language report + technical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029200" cy="210312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21992"/>
            <a:ext cx="4389120" cy="1645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FASSD does not replace forensic experts; it helps them know where to look.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Literature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Our contribution is practical forensic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645920"/>
          <a:ext cx="103327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562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Common literature focus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FASSD extension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Single spoof score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Four evidence axes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Benchmark-only testing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Controlled + real-world case testing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Model accuracy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Evidence explanation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File-level classification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Segment candidates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Research output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Deployed web application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BBF24"/>
                </a:solidFill>
                <a:latin typeface="Aptos"/>
              </a:rPr>
              <a:t>Defense answer: better in evidence coverage and practical reporting, not universal benchmark superiority.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Public Web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complete software product, not only notebooks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Next.js / Vercel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5145" y="217627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3161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4329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4329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Firebase 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6787" y="217627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4803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5971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5971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FastAPI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8428" y="217627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16444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17612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7612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Phase 9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0070" y="217627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22D3E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78086" y="1737360"/>
            <a:ext cx="2051913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79254" y="1883664"/>
            <a:ext cx="1649577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79254" y="2212848"/>
            <a:ext cx="1649577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PDF/JSON Reports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566160"/>
            <a:ext cx="320040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371246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Aptos"/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4041648"/>
            <a:ext cx="279806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Dashboard, recorder, test clips, AI lab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3566160"/>
            <a:ext cx="320040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371246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4041648"/>
            <a:ext cx="279806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Model inference + report generation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566160"/>
            <a:ext cx="320040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3712464"/>
            <a:ext cx="27980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4041648"/>
            <a:ext cx="2798064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Auth-gated analysis + email verification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166360"/>
            <a:ext cx="1051560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700" b="1">
                <a:solidFill>
                  <a:srgbClr val="22D3EE"/>
                </a:solidFill>
                <a:latin typeface="Aptos"/>
              </a:rPr>
              <a:t>Live: https://www.deepfakedetection.dev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Final Interface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What the reviewer receives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Upload /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1448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2616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4 evidence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Review segments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Safety wording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1784" y="2336292"/>
            <a:ext cx="219456" cy="219456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600" b="1">
                <a:solidFill>
                  <a:srgbClr val="34D399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1920240"/>
            <a:ext cx="1737360" cy="10515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30968" y="2066544"/>
            <a:ext cx="133502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2395728"/>
            <a:ext cx="1335024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Export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931920"/>
            <a:ext cx="9875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Readable headline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Evidence band for each axis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Highlighted timestamps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Report-oriented explanation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Manual-review recommendation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Real-World Case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Public incidents tested beyond controlled benchmark datasets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457200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1975104"/>
            <a:ext cx="41696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CASE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04288"/>
            <a:ext cx="4169664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Biden New Hampshire robocall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28800"/>
            <a:ext cx="4572000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1975104"/>
            <a:ext cx="41696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304288"/>
            <a:ext cx="4169664" cy="5029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Aptos"/>
              </a:rPr>
              <a:t>Baltimore / Pikesville principal audio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86200"/>
            <a:ext cx="98755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Purpose: compare public forensic discussion with FASSD evidence-axis output.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Safety: experimental evidence only, not legal proof.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Case Study 1: Biden Robocall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difficult phone-channel/public-media copy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20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600200"/>
          <a:ext cx="5486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1783080"/>
            <a:ext cx="438912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929384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FBBF24"/>
                </a:solidFill>
                <a:latin typeface="Aptos"/>
              </a:rPr>
              <a:t>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258568"/>
            <a:ext cx="398678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Mixed / partial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External finding: AI-generated robocall.</a:t>
            </a:r>
          </a:p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FASSD: borderline origin, high replay/channel.</a:t>
            </a:r>
          </a:p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Interpretation: public copy likely dominated by phone/media artifacts.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Case Study 2: Pikesville Principal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stronger match with public forensic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1600200"/>
          <a:ext cx="5486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1783080"/>
            <a:ext cx="438912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929384"/>
            <a:ext cx="398678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AGREEMENT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258568"/>
            <a:ext cx="398678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Broad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971800"/>
            <a:ext cx="4389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External discussion: AI-generated or manipulated.</a:t>
            </a:r>
          </a:p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FASSD: elevated origin + partial candidates.</a:t>
            </a:r>
          </a:p>
          <a:p>
            <a:pPr>
              <a:spcAft>
                <a:spcPts val="648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Replay/channel low for this public copy.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Case Study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Multi-axis reporting explains why results differ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6459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External finding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FASSD output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Aptos"/>
                        </a:rPr>
                        <a:t>Agreement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Biden NH Robocall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AI-generated robocall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Borderline origin + high channel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Mixed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Pikesville Principal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AI-generated / manipulated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High origin + partial candidates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F1F5F9"/>
                          </a:solidFill>
                          <a:latin typeface="Aptos"/>
                        </a:rPr>
                        <a:t>Broad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4023360"/>
            <a:ext cx="98755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Public copies can lose or distort forensic traces.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Evidence axes explain inconclusive outputs instead of hiding them.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Case studies make the demo stronger than benchmark-only evaluation.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Why Firestore NoSQL?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Simple user history, not heavy ML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60020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33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Explanation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Firebase Auth integration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Direct connection with user accounts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Flexible schema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Report fields changed during development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Simple history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Each analysis stored as one document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Fast deployment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No separate SQL server needed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ML separation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FastAPI handles inference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5257800"/>
            <a:ext cx="103327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BBF24"/>
                </a:solidFill>
                <a:latin typeface="Aptos"/>
              </a:rPr>
              <a:t>Clarification: Firestore stores web history, not the full ML inference pipeline.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Honesty strengthens the defense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6692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Not court-ready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Manual review required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Mixer/channel recall is weak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WhatsApp/phone compression can hide origin cues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Partial fabrication is experimental</a:t>
            </a:r>
          </a:p>
          <a:p>
            <a:pPr>
              <a:spcAft>
                <a:spcPts val="648"/>
              </a:spcAft>
              <a:defRPr sz="1800">
                <a:solidFill>
                  <a:srgbClr val="F1F5F9"/>
                </a:solidFill>
                <a:latin typeface="Aptos"/>
              </a:defRPr>
            </a:pPr>
            <a:r>
              <a:t>Public copies may lose forensic traces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011680"/>
            <a:ext cx="4480560" cy="201168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267712"/>
            <a:ext cx="3840480" cy="1554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FASSD is a research prototype and decision-support tool, not a final forensic authority.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Path from FYP prototype to stronger forensic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98755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Larger real-world forensic dataset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Better WhatsApp and phone-channel robustness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Improved mixer/channel model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Stronger partial localization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Expert forensic validation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Chain-of-custody case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029200"/>
            <a:ext cx="9326880" cy="73152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5285232"/>
            <a:ext cx="8686800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First improvement priority: mixer/channel axis and compression robustness.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Final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What FASSD adds as a complete FYP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508760"/>
            <a:ext cx="58521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Complete audio deepfake detection pipeline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Large unified dataset preparation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Multiple model experiments and documented failures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Controlled forensic testing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Final multi-axis evidence architecture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Evidence-band reporting system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Public deployed web application</a:t>
            </a:r>
          </a:p>
          <a:p>
            <a:pPr>
              <a:spcAft>
                <a:spcPts val="648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Real-world case study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965960"/>
            <a:ext cx="4389120" cy="219456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221992"/>
            <a:ext cx="3749040" cy="17373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Biggest contribution: moving from binary detection to multi-axis forensic evidence reporting.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 complete ML + software engineering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99669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Achieved official FYP objectives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Extended into deployed forensic decision-support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Analyzes four evidence axes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Provides readable reports and segment highlights</a:t>
            </a:r>
          </a:p>
          <a:p>
            <a:pPr>
              <a:spcAft>
                <a:spcPts val="648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Avoids unsafe fake/real overclaiming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4709160"/>
            <a:ext cx="9601200" cy="822960"/>
          </a:xfrm>
          <a:prstGeom prst="roundRect">
            <a:avLst/>
          </a:prstGeom>
          <a:solidFill>
            <a:srgbClr val="141F34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4965192"/>
            <a:ext cx="896112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F1F5F9"/>
                </a:solidFill>
                <a:latin typeface="Aptos"/>
              </a:rPr>
              <a:t>FASSD does not replace forensic experts; it helps them know where to look.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5000" b="1">
                <a:solidFill>
                  <a:srgbClr val="F1F5F9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Aptos"/>
              </a:rPr>
              <a:t>Questions?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657600"/>
            <a:ext cx="41148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9968" y="3803904"/>
            <a:ext cx="37124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LIVE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4133088"/>
            <a:ext cx="37124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https://www.deepfakedetection.dev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657600"/>
            <a:ext cx="4114800" cy="822960"/>
          </a:xfrm>
          <a:prstGeom prst="roundRect">
            <a:avLst/>
          </a:prstGeom>
          <a:solidFill>
            <a:srgbClr val="0F172A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3803904"/>
            <a:ext cx="3712464" cy="2743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Aptos"/>
              </a:rPr>
              <a:t>REPOSITORIES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4133088"/>
            <a:ext cx="3712464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Aptos"/>
              </a:rPr>
              <a:t>github.com/RanaAreeb/FASSD
github.com/MHS-4ever/FYP_FASSD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Backup Viva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High-risk questions and compact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5087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Defense answer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not one model?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Different manipulations leave different traces.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reject ResNet?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Great benchmark EER, weak real-world generalization.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reject AASIST?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22/23 clean human false alarms in controlled test.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Can FASSD prove fake?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No. It provides decision-support evidence only.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Biggest limitation?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Mixer/channel recall and compression robustness.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365760"/>
            <a:ext cx="2560320" cy="25603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560320" cy="25603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FASSD FINAL YEAR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8368"/>
            <a:ext cx="9601200" cy="658368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F1F5F9"/>
                </a:solidFill>
                <a:latin typeface="Aptos"/>
              </a:rPr>
              <a:t>Backup Viva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243584"/>
            <a:ext cx="877824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More defense-ready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548640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Forensic Audio Source and Spoofing 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 algn="r"/>
            <a:r>
              <a:rPr sz="800" b="1">
                <a:solidFill>
                  <a:srgbClr val="22D3EE"/>
                </a:solidFill>
                <a:latin typeface="Aptos"/>
              </a:rPr>
              <a:t>30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94360" y="15087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6705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Aptos"/>
                        </a:rPr>
                        <a:t>Defense answer</a:t>
                      </a:r>
                    </a:p>
                  </a:txBody>
                  <a:tcPr marL="54864" marR="54864" anchor="ctr">
                    <a:solidFill>
                      <a:srgbClr val="141F3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Replay vs AI-origin?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Replay is recording-chain; AI-origin is voice source.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evidence bands?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Safer and clearer than raw confidence scores.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Better than literature?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Stronger practical reporting; no universal superiority claim.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mixed Biden result?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Phone/media channel artifacts masked origin cues.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Why manual review?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1F5F9"/>
                          </a:solidFill>
                          <a:latin typeface="Aptos"/>
                        </a:rPr>
                        <a:t>Audio forensics is high-risk; automated models can fail.</a:t>
                      </a:r>
                    </a:p>
                  </a:txBody>
                  <a:tcPr marL="54864" marR="54864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